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80" r:id="rId5"/>
    <p:sldId id="272" r:id="rId6"/>
    <p:sldId id="290" r:id="rId7"/>
    <p:sldId id="291" r:id="rId8"/>
    <p:sldId id="292" r:id="rId9"/>
    <p:sldId id="277" r:id="rId10"/>
    <p:sldId id="296" r:id="rId11"/>
    <p:sldId id="278" r:id="rId12"/>
    <p:sldId id="283" r:id="rId13"/>
    <p:sldId id="295" r:id="rId14"/>
    <p:sldId id="268" r:id="rId15"/>
    <p:sldId id="28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A02"/>
    <a:srgbClr val="EE822F"/>
    <a:srgbClr val="4874CB"/>
    <a:srgbClr val="E3E6E9"/>
    <a:srgbClr val="1A7CC1"/>
    <a:srgbClr val="C9F1FF"/>
    <a:srgbClr val="006DB3"/>
    <a:srgbClr val="046FBB"/>
    <a:srgbClr val="0A73BE"/>
    <a:srgbClr val="FF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技术</a:t>
            </a:r>
            <a:r>
              <a:rPr lang="en-US" altLang="zh-CN"/>
              <a:t> + </a:t>
            </a:r>
            <a:r>
              <a:rPr lang="zh-CN" altLang="en-US"/>
              <a:t>爱好</a:t>
            </a:r>
            <a:r>
              <a:rPr lang="en-US" altLang="zh-CN"/>
              <a:t> + </a:t>
            </a:r>
            <a:r>
              <a:rPr lang="zh-CN" altLang="en-US"/>
              <a:t>【左边</a:t>
            </a:r>
            <a:r>
              <a:rPr lang="en-US" altLang="zh-CN"/>
              <a:t> + </a:t>
            </a:r>
            <a:r>
              <a:rPr lang="zh-CN" altLang="en-US"/>
              <a:t>右边照片】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爱好</a:t>
            </a:r>
            <a:r>
              <a:rPr lang="en-US" altLang="zh-CN"/>
              <a:t> + </a:t>
            </a:r>
            <a:r>
              <a:rPr lang="zh-CN" altLang="en-US"/>
              <a:t>自我介绍</a:t>
            </a:r>
            <a:r>
              <a:rPr lang="en-US" altLang="zh-CN"/>
              <a:t> + </a:t>
            </a:r>
            <a:r>
              <a:rPr lang="zh-CN" altLang="en-US"/>
              <a:t>技能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工作价值排版</a:t>
            </a:r>
            <a:r>
              <a:rPr lang="en-US" altLang="zh-CN">
                <a:sym typeface="+mn-ea"/>
              </a:rPr>
              <a:t> 1 + </a:t>
            </a:r>
            <a:r>
              <a:rPr lang="zh-CN" altLang="en-US">
                <a:sym typeface="+mn-ea"/>
              </a:rPr>
              <a:t>放案例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已经开发这个系统，多少人处理几个任务，目前准确率达到多少；（经过迭代，）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【体现一下，成果展示：迭代</a:t>
            </a:r>
            <a:r>
              <a:rPr lang="en-US" altLang="zh-CN">
                <a:sym typeface="+mn-ea"/>
              </a:rPr>
              <a:t>VLM</a:t>
            </a:r>
            <a:r>
              <a:rPr lang="zh-CN" altLang="en-US">
                <a:sym typeface="+mn-ea"/>
              </a:rPr>
              <a:t>整理的人工数据集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重新测试一下材料】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未来展望：期望能减少多少</a:t>
            </a:r>
            <a:r>
              <a:rPr lang="en-US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准确率能达到多少；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流程图</a:t>
            </a:r>
            <a:r>
              <a:rPr lang="en-US" altLang="zh-CN"/>
              <a:t> + </a:t>
            </a:r>
            <a:r>
              <a:rPr lang="zh-CN" altLang="en-US"/>
              <a:t>龙虾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Excel</a:t>
            </a:r>
            <a:r>
              <a:rPr lang="zh-CN" altLang="en-US">
                <a:sym typeface="+mn-ea"/>
              </a:rPr>
              <a:t>处理前的结果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处理后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个人成长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格式：居中</a:t>
            </a:r>
            <a:r>
              <a:rPr lang="en-US" altLang="zh-CN"/>
              <a:t> + </a:t>
            </a:r>
            <a:r>
              <a:rPr lang="zh-CN" altLang="en-US"/>
              <a:t>左对齐</a:t>
            </a:r>
            <a:endParaRPr lang="zh-CN" altLang="en-US"/>
          </a:p>
          <a:p>
            <a:r>
              <a:rPr lang="zh-CN" altLang="en-US"/>
              <a:t>示例</a:t>
            </a:r>
            <a:r>
              <a:rPr lang="zh-CN" altLang="en-US"/>
              <a:t>说明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流程图</a:t>
            </a:r>
            <a:r>
              <a:rPr lang="en-US" altLang="zh-CN"/>
              <a:t> </a:t>
            </a:r>
            <a:r>
              <a:rPr lang="zh-CN" altLang="en-US"/>
              <a:t>迭代版本</a:t>
            </a:r>
            <a:r>
              <a:rPr lang="en-US" altLang="zh-CN"/>
              <a:t> + </a:t>
            </a:r>
            <a:r>
              <a:rPr lang="zh-CN" altLang="en-US"/>
              <a:t>实例辅助说明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更换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调整一下大小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目标是</a:t>
            </a:r>
            <a:r>
              <a:rPr lang="en-US" altLang="zh-CN"/>
              <a:t>AI</a:t>
            </a:r>
            <a:r>
              <a:rPr lang="zh-CN" altLang="en-US"/>
              <a:t>工程师
进步过程囊括了中长期和长期
中长期目标</a:t>
            </a:r>
            <a:endParaRPr lang="zh-CN" altLang="en-US"/>
          </a:p>
          <a:p>
            <a:r>
              <a:rPr lang="zh-CN" altLang="en-US"/>
              <a:t>成为懂业务、懂技术、懂产品的</a:t>
            </a:r>
            <a:r>
              <a:rPr lang="en-US" altLang="zh-CN"/>
              <a:t>AI</a:t>
            </a:r>
            <a:r>
              <a:rPr lang="zh-CN" altLang="en-US"/>
              <a:t>应用工程师
</a:t>
            </a:r>
            <a:r>
              <a:rPr lang="zh-CN" altLang="en-US" b="1" dirty="0">
                <a:sym typeface="+mn-ea"/>
              </a:rPr>
              <a:t>复合型人才
</a:t>
            </a:r>
            <a:r>
              <a:rPr lang="en-US" altLang="zh-CN" dirty="0"/>
              <a:t>- </a:t>
            </a:r>
            <a:r>
              <a:rPr lang="zh-CN" altLang="en-US" dirty="0"/>
              <a:t>考取专业职称</a:t>
            </a:r>
            <a:r>
              <a:rPr lang="en-US" altLang="zh-CN" dirty="0"/>
              <a:t>: </a:t>
            </a:r>
            <a:r>
              <a:rPr lang="zh-CN" altLang="en-US" dirty="0"/>
              <a:t>计划考取</a:t>
            </a:r>
            <a:r>
              <a:rPr lang="en-US" altLang="zh-CN" dirty="0"/>
              <a:t>“</a:t>
            </a:r>
            <a:r>
              <a:rPr lang="zh-CN" altLang="en-US" dirty="0"/>
              <a:t>系统集成与项目管理工程师</a:t>
            </a:r>
            <a:r>
              <a:rPr lang="en-US" altLang="zh-CN" dirty="0"/>
              <a:t>”</a:t>
            </a:r>
            <a:r>
              <a:rPr lang="zh-CN" altLang="en-US" dirty="0"/>
              <a:t>等专业职称，提升项目管理能力。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提升综合能力与架构思维：阅读产品开发管理等书籍，着力培养产品思维和代码架构设计能力，能设计出更健壮、可扩展的系统。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深入短信业务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积极参与实际的短信报备流程，从业务深处寻找AI优化的机会点。</a:t>
            </a:r>
            <a:endParaRPr lang="en-US" altLang="en-US" dirty="0"/>
          </a:p>
          <a:p>
            <a:endParaRPr lang="en-US" altLang="zh-CN" dirty="0"/>
          </a:p>
          <a:p>
            <a:r>
              <a:rPr lang="zh-CN" altLang="en-US" b="1" dirty="0">
                <a:sym typeface="+mn-ea"/>
              </a:rPr>
              <a:t>拓展技术深度</a:t>
            </a:r>
            <a:endParaRPr lang="en-US" altLang="en-US" dirty="0"/>
          </a:p>
          <a:p>
            <a:pPr>
              <a:lnSpc>
                <a:spcPct val="120000"/>
              </a:lnSpc>
              <a:buSzPct val="25000"/>
            </a:pPr>
            <a:r>
              <a:rPr lang="en-US" altLang="zh-CN" dirty="0">
                <a:sym typeface="+mn-ea"/>
              </a:rPr>
              <a:t>- </a:t>
            </a:r>
            <a:r>
              <a:rPr lang="zh-CN" altLang="en-US" dirty="0">
                <a:sym typeface="+mn-ea"/>
              </a:rPr>
              <a:t>提升技术涵养：持续学习系统架构设计、模型微调及开源项目的二次开发能力。
</a:t>
            </a:r>
            <a:r>
              <a:rPr lang="en-US" altLang="zh-CN" dirty="0">
                <a:sym typeface="+mn-ea"/>
              </a:rPr>
              <a:t>-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深入模型原理：深入理解大模型底层原理，提升模型调优和定制化开发的核心能力。</a:t>
            </a:r>
            <a:endParaRPr lang="en-US" altLang="en-US" dirty="0"/>
          </a:p>
          <a:p>
            <a:pPr>
              <a:lnSpc>
                <a:spcPct val="120000"/>
              </a:lnSpc>
              <a:buSzPct val="25000"/>
            </a:pPr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敬请批评指正！</a:t>
            </a:r>
            <a:r>
              <a:rPr lang="en-US" altLang="zh-CN"/>
              <a:t> + </a:t>
            </a:r>
            <a:r>
              <a:rPr lang="zh-CN" altLang="en-US"/>
              <a:t>提问（翻到对应页面）</a:t>
            </a:r>
            <a:r>
              <a:rPr lang="en-US" altLang="zh-CN"/>
              <a:t> + </a:t>
            </a:r>
            <a:r>
              <a:rPr lang="zh-CN" altLang="en-US"/>
              <a:t>反问（加到这一页）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prstGeom prst="rect">
            <a:avLst/>
          </a:prstGeo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0.xml"/><Relationship Id="rId15" Type="http://schemas.openxmlformats.org/officeDocument/2006/relationships/image" Target="../media/image1.jpeg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PPT模板-固定_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5" Type="http://schemas.openxmlformats.org/officeDocument/2006/relationships/notesSlide" Target="../notesSlides/notesSlide2.xml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3.jpeg"/><Relationship Id="rId42" Type="http://schemas.openxmlformats.org/officeDocument/2006/relationships/tags" Target="../tags/tag102.xml"/><Relationship Id="rId41" Type="http://schemas.openxmlformats.org/officeDocument/2006/relationships/tags" Target="../tags/tag101.xml"/><Relationship Id="rId40" Type="http://schemas.openxmlformats.org/officeDocument/2006/relationships/tags" Target="../tags/tag100.xml"/><Relationship Id="rId4" Type="http://schemas.openxmlformats.org/officeDocument/2006/relationships/tags" Target="../tags/tag64.xml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5.png"/><Relationship Id="rId25" Type="http://schemas.openxmlformats.org/officeDocument/2006/relationships/image" Target="../media/image4.png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tags" Target="../tags/tag104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3" Type="http://schemas.openxmlformats.org/officeDocument/2006/relationships/notesSlide" Target="../notesSlides/notesSlide4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10.png"/><Relationship Id="rId30" Type="http://schemas.openxmlformats.org/officeDocument/2006/relationships/image" Target="../media/image9.png"/><Relationship Id="rId3" Type="http://schemas.openxmlformats.org/officeDocument/2006/relationships/tags" Target="../tags/tag129.xml"/><Relationship Id="rId29" Type="http://schemas.openxmlformats.org/officeDocument/2006/relationships/image" Target="../media/image8.png"/><Relationship Id="rId28" Type="http://schemas.openxmlformats.org/officeDocument/2006/relationships/image" Target="../media/image7.png"/><Relationship Id="rId27" Type="http://schemas.openxmlformats.org/officeDocument/2006/relationships/tags" Target="../tags/tag152.xml"/><Relationship Id="rId26" Type="http://schemas.openxmlformats.org/officeDocument/2006/relationships/image" Target="../media/image6.png"/><Relationship Id="rId25" Type="http://schemas.openxmlformats.org/officeDocument/2006/relationships/tags" Target="../tags/tag151.xml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28.xml"/><Relationship Id="rId19" Type="http://schemas.openxmlformats.org/officeDocument/2006/relationships/tags" Target="../tags/tag145.xml"/><Relationship Id="rId18" Type="http://schemas.openxmlformats.org/officeDocument/2006/relationships/tags" Target="../tags/tag144.xml"/><Relationship Id="rId17" Type="http://schemas.openxmlformats.org/officeDocument/2006/relationships/tags" Target="../tags/tag143.xml"/><Relationship Id="rId16" Type="http://schemas.openxmlformats.org/officeDocument/2006/relationships/tags" Target="../tags/tag142.xml"/><Relationship Id="rId15" Type="http://schemas.openxmlformats.org/officeDocument/2006/relationships/tags" Target="../tags/tag141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9" Type="http://schemas.openxmlformats.org/officeDocument/2006/relationships/notesSlide" Target="../notesSlides/notesSlide5.x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13.png"/><Relationship Id="rId26" Type="http://schemas.openxmlformats.org/officeDocument/2006/relationships/image" Target="../media/image12.png"/><Relationship Id="rId25" Type="http://schemas.openxmlformats.org/officeDocument/2006/relationships/image" Target="../media/image11.png"/><Relationship Id="rId24" Type="http://schemas.openxmlformats.org/officeDocument/2006/relationships/tags" Target="../tags/tag176.xml"/><Relationship Id="rId23" Type="http://schemas.openxmlformats.org/officeDocument/2006/relationships/tags" Target="../tags/tag175.xml"/><Relationship Id="rId22" Type="http://schemas.openxmlformats.org/officeDocument/2006/relationships/tags" Target="../tags/tag174.xml"/><Relationship Id="rId21" Type="http://schemas.openxmlformats.org/officeDocument/2006/relationships/tags" Target="../tags/tag173.xml"/><Relationship Id="rId20" Type="http://schemas.openxmlformats.org/officeDocument/2006/relationships/tags" Target="../tags/tag172.xml"/><Relationship Id="rId2" Type="http://schemas.openxmlformats.org/officeDocument/2006/relationships/tags" Target="../tags/tag154.xml"/><Relationship Id="rId19" Type="http://schemas.openxmlformats.org/officeDocument/2006/relationships/tags" Target="../tags/tag171.xml"/><Relationship Id="rId18" Type="http://schemas.openxmlformats.org/officeDocument/2006/relationships/tags" Target="../tags/tag170.xml"/><Relationship Id="rId17" Type="http://schemas.openxmlformats.org/officeDocument/2006/relationships/tags" Target="../tags/tag169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9" Type="http://schemas.openxmlformats.org/officeDocument/2006/relationships/notesSlide" Target="../notesSlides/notesSlide6.x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15.png"/><Relationship Id="rId26" Type="http://schemas.openxmlformats.org/officeDocument/2006/relationships/image" Target="../media/image14.png"/><Relationship Id="rId25" Type="http://schemas.openxmlformats.org/officeDocument/2006/relationships/image" Target="../media/image13.png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8" Type="http://schemas.openxmlformats.org/officeDocument/2006/relationships/notesSlide" Target="../notesSlides/notesSlide7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26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tags" Target="../tags/tag202.xml"/><Relationship Id="rId19" Type="http://schemas.openxmlformats.org/officeDocument/2006/relationships/tags" Target="../tags/tag219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tags" Target="../tags/tag22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49.xml"/><Relationship Id="rId10" Type="http://schemas.openxmlformats.org/officeDocument/2006/relationships/image" Target="../media/image21.png"/><Relationship Id="rId1" Type="http://schemas.openxmlformats.org/officeDocument/2006/relationships/tags" Target="../tags/tag2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4966499" y="1170305"/>
            <a:ext cx="2268220" cy="857250"/>
            <a:chOff x="8175" y="1943"/>
            <a:chExt cx="3572" cy="1350"/>
          </a:xfrm>
        </p:grpSpPr>
        <p:sp>
          <p:nvSpPr>
            <p:cNvPr id="3" name="Rounded Rectangle 2"/>
            <p:cNvSpPr/>
            <p:nvPr/>
          </p:nvSpPr>
          <p:spPr>
            <a:xfrm>
              <a:off x="8175" y="1943"/>
              <a:ext cx="3572" cy="1350"/>
            </a:xfrm>
            <a:prstGeom prst="roundRect">
              <a:avLst>
                <a:gd name="adj" fmla="val 41662500"/>
              </a:avLst>
            </a:prstGeom>
            <a:solidFill>
              <a:srgbClr val="3B82F6">
                <a:alpha val="10000"/>
              </a:srgbClr>
            </a:solidFill>
            <a:ln w="1651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730" y="2262"/>
              <a:ext cx="2462" cy="931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no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93C5FD"/>
                  </a:solidFill>
                </a:rPr>
                <a:t>WORK REPORT</a:t>
              </a:r>
              <a:endParaRPr sz="2000" b="0">
                <a:solidFill>
                  <a:srgbClr val="93C5FD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908714" y="2513648"/>
            <a:ext cx="2383790" cy="8591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1560"/>
              </a:spcAft>
            </a:pPr>
            <a:r>
              <a:rPr sz="4400" b="1">
                <a:solidFill>
                  <a:srgbClr val="0A73BE"/>
                </a:solidFill>
              </a:rPr>
              <a:t>转正</a:t>
            </a:r>
            <a:r>
              <a:rPr lang="zh-CN" sz="4400" b="1">
                <a:solidFill>
                  <a:srgbClr val="0A73BE"/>
                </a:solidFill>
              </a:rPr>
              <a:t>答辩</a:t>
            </a:r>
            <a:endParaRPr lang="zh-CN" sz="4400" b="1">
              <a:solidFill>
                <a:srgbClr val="0A73B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262" y="3600450"/>
            <a:ext cx="121916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19609" y="4333875"/>
            <a:ext cx="9524" cy="60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" name="组合 18"/>
          <p:cNvGrpSpPr/>
          <p:nvPr/>
        </p:nvGrpSpPr>
        <p:grpSpPr>
          <a:xfrm>
            <a:off x="3438525" y="4841240"/>
            <a:ext cx="5404485" cy="1238250"/>
            <a:chOff x="5415" y="6330"/>
            <a:chExt cx="8511" cy="1950"/>
          </a:xfrm>
        </p:grpSpPr>
        <p:sp>
          <p:nvSpPr>
            <p:cNvPr id="7" name="Rounded Rectangle 6"/>
            <p:cNvSpPr/>
            <p:nvPr/>
          </p:nvSpPr>
          <p:spPr>
            <a:xfrm>
              <a:off x="5415" y="6330"/>
              <a:ext cx="8370" cy="1950"/>
            </a:xfrm>
            <a:prstGeom prst="roundRect">
              <a:avLst>
                <a:gd name="adj" fmla="val 24615"/>
              </a:avLst>
            </a:prstGeom>
            <a:solidFill>
              <a:srgbClr val="FFFFFF">
                <a:alpha val="5000"/>
              </a:srgbClr>
            </a:solidFill>
            <a:ln w="825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15" y="6330"/>
              <a:ext cx="1395" cy="1335"/>
            </a:xfrm>
            <a:prstGeom prst="roundRect">
              <a:avLst>
                <a:gd name="adj" fmla="val 41662500"/>
              </a:avLst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02" y="6450"/>
              <a:ext cx="850" cy="1335"/>
            </a:xfrm>
            <a:prstGeom prst="rect">
              <a:avLst/>
            </a:prstGeom>
            <a:noFill/>
          </p:spPr>
          <p:txBody>
            <a:bodyPr wrap="none" lIns="73152" tIns="54864" rIns="73152" bIns="54864" anchor="ctr" anchorCtr="0">
              <a:noAutofit/>
            </a:bodyPr>
            <a:lstStyle/>
            <a:p>
              <a:pPr algn="ctr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93C5FD"/>
                  </a:solidFill>
                </a:rPr>
                <a:t>敖</a:t>
              </a:r>
              <a:endParaRPr sz="2400" b="1">
                <a:solidFill>
                  <a:srgbClr val="93C5FD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0" y="6620"/>
              <a:ext cx="1673" cy="6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2400" b="1">
                  <a:solidFill>
                    <a:srgbClr val="9CA3AF"/>
                  </a:solidFill>
                </a:rPr>
                <a:t>汇报人</a:t>
              </a:r>
              <a:endParaRPr sz="2400" b="1">
                <a:solidFill>
                  <a:srgbClr val="9CA3AF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8" y="7065"/>
              <a:ext cx="1395" cy="72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noAutofit/>
            </a:bodyPr>
            <a:lstStyle/>
            <a:p>
              <a:pPr algn="l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rgbClr val="0A73BE"/>
                  </a:solidFill>
                </a:rPr>
                <a:t>敖宇飞</a:t>
              </a:r>
              <a:endParaRPr b="1">
                <a:solidFill>
                  <a:srgbClr val="0A73BE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585" y="6330"/>
              <a:ext cx="1396" cy="1335"/>
            </a:xfrm>
            <a:prstGeom prst="roundRect">
              <a:avLst>
                <a:gd name="adj" fmla="val 41662500"/>
              </a:avLst>
            </a:prstGeom>
            <a:solidFill>
              <a:srgbClr val="06B6D4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tretch>
              <a:fillRect/>
            </a:stretch>
          </p:blipFill>
          <p:spPr>
            <a:xfrm>
              <a:off x="9908" y="6620"/>
              <a:ext cx="750" cy="646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1216" y="6536"/>
              <a:ext cx="2150" cy="63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lang="zh-CN" sz="2400" b="0">
                  <a:solidFill>
                    <a:srgbClr val="9CA3AF"/>
                  </a:solidFill>
                </a:rPr>
                <a:t>答辩</a:t>
              </a:r>
              <a:r>
                <a:rPr sz="2400" b="0">
                  <a:solidFill>
                    <a:srgbClr val="9CA3AF"/>
                  </a:solidFill>
                </a:rPr>
                <a:t>日期</a:t>
              </a:r>
              <a:endParaRPr sz="2400" b="0">
                <a:solidFill>
                  <a:srgbClr val="9CA3AF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216" y="7129"/>
              <a:ext cx="2710" cy="59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rgbClr val="0A73BE"/>
                  </a:solidFill>
                </a:rPr>
                <a:t>2026年3月</a:t>
              </a:r>
              <a:r>
                <a:rPr lang="en-US" b="1">
                  <a:solidFill>
                    <a:srgbClr val="0A73BE"/>
                  </a:solidFill>
                </a:rPr>
                <a:t>19</a:t>
              </a:r>
              <a:r>
                <a:rPr b="1">
                  <a:solidFill>
                    <a:srgbClr val="0A73BE"/>
                  </a:solidFill>
                </a:rPr>
                <a:t>日</a:t>
              </a:r>
              <a:endParaRPr b="1">
                <a:solidFill>
                  <a:srgbClr val="0A73BE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417695" y="3859530"/>
            <a:ext cx="3705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以</a:t>
            </a:r>
            <a:r>
              <a:rPr lang="en-US" altLang="zh-CN"/>
              <a:t>AI</a:t>
            </a:r>
            <a:r>
              <a:rPr lang="zh-CN" altLang="en-US"/>
              <a:t>赋能业务，驱动运营效能跃升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" descr="adc534bb-9e31-4253-85b9-858a16523bda"/>
          <p:cNvSpPr txBox="1"/>
          <p:nvPr/>
        </p:nvSpPr>
        <p:spPr>
          <a:xfrm>
            <a:off x="477520" y="708660"/>
            <a:ext cx="10858500" cy="722630"/>
          </a:xfrm>
          <a:prstGeom prst="rect">
            <a:avLst/>
          </a:prstGeom>
          <a:noFill/>
        </p:spPr>
        <p:txBody>
          <a:bodyPr vert="horz" wrap="square" rtlCol="0" anchor="t" anchorCtr="1">
            <a:normAutofit/>
          </a:bodyPr>
          <a:lstStyle/>
          <a:p>
            <a:pPr algn="ctr"/>
            <a:r>
              <a:rPr lang="zh-CN" altLang="en-US" sz="2400" b="1" dirty="0">
                <a:cs typeface="+mn-ea"/>
                <a:sym typeface="+mn-lt"/>
              </a:rPr>
              <a:t>自我介绍</a:t>
            </a:r>
            <a:endParaRPr lang="zh-CN" altLang="en-US" sz="2400" b="1" dirty="0">
              <a:cs typeface="+mn-ea"/>
              <a:sym typeface="+mn-lt"/>
            </a:endParaRPr>
          </a:p>
        </p:txBody>
      </p:sp>
      <p:grpSp>
        <p:nvGrpSpPr>
          <p:cNvPr id="40" name="组合 39" descr="4d8a509a-88c5-45d4-a126-dd9284ec4672"/>
          <p:cNvGrpSpPr/>
          <p:nvPr>
            <p:custDataLst>
              <p:tags r:id="rId1"/>
            </p:custDataLst>
          </p:nvPr>
        </p:nvGrpSpPr>
        <p:grpSpPr>
          <a:xfrm rot="0">
            <a:off x="130810" y="1502021"/>
            <a:ext cx="4254500" cy="1542415"/>
            <a:chOff x="790707" y="3721158"/>
            <a:chExt cx="4254500" cy="1542707"/>
          </a:xfrm>
        </p:grpSpPr>
        <p:sp>
          <p:nvSpPr>
            <p:cNvPr id="41" name="ComponentBackground1" descr="b43c3529-a19e-4e4c-b676-66baf0f82c60"/>
            <p:cNvSpPr/>
            <p:nvPr>
              <p:custDataLst>
                <p:tags r:id="rId2"/>
              </p:custDataLst>
            </p:nvPr>
          </p:nvSpPr>
          <p:spPr>
            <a:xfrm>
              <a:off x="790707" y="3721158"/>
              <a:ext cx="4095115" cy="1542707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2" name="Bullet1" descr="0a466aae-d029-42d5-9c70-b4f431556c1f"/>
            <p:cNvSpPr txBox="1"/>
            <p:nvPr>
              <p:custDataLst>
                <p:tags r:id="rId3"/>
              </p:custDataLst>
            </p:nvPr>
          </p:nvSpPr>
          <p:spPr>
            <a:xfrm>
              <a:off x="1480317" y="3837139"/>
              <a:ext cx="3564890" cy="482056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散步</a:t>
              </a:r>
              <a:endParaRPr lang="en-US" dirty="0"/>
            </a:p>
          </p:txBody>
        </p:sp>
        <p:sp>
          <p:nvSpPr>
            <p:cNvPr id="43" name="Text1" descr="a6b35bff-2cc8-4775-bd29-42260955fb10"/>
            <p:cNvSpPr txBox="1"/>
            <p:nvPr>
              <p:custDataLst>
                <p:tags r:id="rId4"/>
              </p:custDataLst>
            </p:nvPr>
          </p:nvSpPr>
          <p:spPr>
            <a:xfrm>
              <a:off x="1007877" y="4413828"/>
              <a:ext cx="3752850" cy="5709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cs typeface="+mn-ea"/>
                  <a:sym typeface="+mn-lt"/>
                </a:rPr>
                <a:t>喜欢散步，让大脑在放松的环境中得到休息，有助于激发新的灵感。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4" name="IconBackground1" descr="3bf8e329-d599-40a5-b73c-0d3c2251ac85"/>
            <p:cNvSpPr/>
            <p:nvPr>
              <p:custDataLst>
                <p:tags r:id="rId5"/>
              </p:custDataLst>
            </p:nvPr>
          </p:nvSpPr>
          <p:spPr>
            <a:xfrm>
              <a:off x="892355" y="3848339"/>
              <a:ext cx="520426" cy="520423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5" name="Icon1" descr="fcdfa5b6-42a7-41fa-9546-b09e2e630064"/>
            <p:cNvSpPr/>
            <p:nvPr>
              <p:custDataLst>
                <p:tags r:id="rId6"/>
              </p:custDataLst>
            </p:nvPr>
          </p:nvSpPr>
          <p:spPr bwMode="auto">
            <a:xfrm>
              <a:off x="1043756" y="3984491"/>
              <a:ext cx="217625" cy="264934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3" name="组合 32" descr="563e2fa3-7152-4180-814b-2f06ca9d3b5c"/>
          <p:cNvGrpSpPr/>
          <p:nvPr>
            <p:custDataLst>
              <p:tags r:id="rId7"/>
            </p:custDataLst>
          </p:nvPr>
        </p:nvGrpSpPr>
        <p:grpSpPr>
          <a:xfrm rot="0">
            <a:off x="130810" y="3135630"/>
            <a:ext cx="4243071" cy="1541145"/>
            <a:chOff x="4369313" y="3722018"/>
            <a:chExt cx="4242985" cy="1541209"/>
          </a:xfrm>
        </p:grpSpPr>
        <p:sp>
          <p:nvSpPr>
            <p:cNvPr id="34" name="ComponentBackground2" descr="93b16790-0aa6-4457-947d-126922c40f33"/>
            <p:cNvSpPr/>
            <p:nvPr>
              <p:custDataLst>
                <p:tags r:id="rId8"/>
              </p:custDataLst>
            </p:nvPr>
          </p:nvSpPr>
          <p:spPr>
            <a:xfrm>
              <a:off x="4369313" y="3722018"/>
              <a:ext cx="4095032" cy="1541209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IconBackground2" descr="e68c575b-8f45-46f3-b73c-5e47184d7023"/>
            <p:cNvSpPr/>
            <p:nvPr>
              <p:custDataLst>
                <p:tags r:id="rId9"/>
              </p:custDataLst>
            </p:nvPr>
          </p:nvSpPr>
          <p:spPr>
            <a:xfrm>
              <a:off x="4470961" y="3887770"/>
              <a:ext cx="520426" cy="520423"/>
            </a:xfrm>
            <a:prstGeom prst="ellipse">
              <a:avLst/>
            </a:prstGeom>
            <a:solidFill>
              <a:schemeClr val="accent2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Icon2" descr="64c196cf-bfad-4fca-a734-16e194bb0d9d"/>
            <p:cNvSpPr/>
            <p:nvPr>
              <p:custDataLst>
                <p:tags r:id="rId10"/>
              </p:custDataLst>
            </p:nvPr>
          </p:nvSpPr>
          <p:spPr bwMode="auto">
            <a:xfrm>
              <a:off x="4610757" y="4065876"/>
              <a:ext cx="240824" cy="191767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9 w 514350"/>
                <a:gd name="connsiteY4" fmla="*/ 353046 h 409575"/>
                <a:gd name="connsiteX5" fmla="*/ 115387 w 514350"/>
                <a:gd name="connsiteY5" fmla="*/ 410196 h 409575"/>
                <a:gd name="connsiteX6" fmla="*/ 115387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Bullet2" descr="978e5818-0efb-4191-b440-fd4d823e0296"/>
            <p:cNvSpPr txBox="1"/>
            <p:nvPr>
              <p:custDataLst>
                <p:tags r:id="rId11"/>
              </p:custDataLst>
            </p:nvPr>
          </p:nvSpPr>
          <p:spPr>
            <a:xfrm>
              <a:off x="5047480" y="3854104"/>
              <a:ext cx="3564818" cy="481350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游戏</a:t>
              </a:r>
              <a:endParaRPr lang="en-US" dirty="0"/>
            </a:p>
          </p:txBody>
        </p:sp>
        <p:sp>
          <p:nvSpPr>
            <p:cNvPr id="38" name="Text2" descr="d869e0b5-f344-4d56-b869-ee031e17f7a9"/>
            <p:cNvSpPr txBox="1"/>
            <p:nvPr>
              <p:custDataLst>
                <p:tags r:id="rId12"/>
              </p:custDataLst>
            </p:nvPr>
          </p:nvSpPr>
          <p:spPr>
            <a:xfrm>
              <a:off x="4616316" y="4408481"/>
              <a:ext cx="3564818" cy="6382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cs typeface="+mn-ea"/>
                  <a:sym typeface="+mn-lt"/>
                </a:rPr>
                <a:t>享受玩游戏的过程，认为这有助于保持思维的敏锐和活跃。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7" name="组合 6" descr="4d8a509a-88c5-45d4-a126-dd9284ec4672"/>
          <p:cNvGrpSpPr/>
          <p:nvPr>
            <p:custDataLst>
              <p:tags r:id="rId13"/>
            </p:custDataLst>
          </p:nvPr>
        </p:nvGrpSpPr>
        <p:grpSpPr>
          <a:xfrm rot="0">
            <a:off x="4351020" y="1425575"/>
            <a:ext cx="4254593" cy="4875530"/>
            <a:chOff x="790707" y="3589442"/>
            <a:chExt cx="4254593" cy="4876453"/>
          </a:xfrm>
        </p:grpSpPr>
        <p:sp>
          <p:nvSpPr>
            <p:cNvPr id="9" name="ComponentBackground1" descr="b43c3529-a19e-4e4c-b676-66baf0f82c60"/>
            <p:cNvSpPr/>
            <p:nvPr>
              <p:custDataLst>
                <p:tags r:id="rId14"/>
              </p:custDataLst>
            </p:nvPr>
          </p:nvSpPr>
          <p:spPr>
            <a:xfrm>
              <a:off x="790707" y="3655495"/>
              <a:ext cx="3349625" cy="4810400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Bullet1" descr="0a466aae-d029-42d5-9c70-b4f431556c1f"/>
            <p:cNvSpPr txBox="1"/>
            <p:nvPr>
              <p:custDataLst>
                <p:tags r:id="rId15"/>
              </p:custDataLst>
            </p:nvPr>
          </p:nvSpPr>
          <p:spPr>
            <a:xfrm>
              <a:off x="1480539" y="3589442"/>
              <a:ext cx="3564761" cy="760302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b="1" dirty="0">
                  <a:cs typeface="+mn-ea"/>
                </a:rPr>
                <a:t>自我介绍</a:t>
              </a:r>
              <a:endParaRPr lang="zh-CN" altLang="en-US" b="1" dirty="0">
                <a:cs typeface="+mn-ea"/>
              </a:endParaRPr>
            </a:p>
          </p:txBody>
        </p:sp>
        <p:sp>
          <p:nvSpPr>
            <p:cNvPr id="12" name="Text1" descr="a6b35bff-2cc8-4775-bd29-42260955fb10"/>
            <p:cNvSpPr txBox="1"/>
            <p:nvPr>
              <p:custDataLst>
                <p:tags r:id="rId16"/>
              </p:custDataLst>
            </p:nvPr>
          </p:nvSpPr>
          <p:spPr>
            <a:xfrm>
              <a:off x="892307" y="4702175"/>
              <a:ext cx="2976880" cy="2974268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indent="0" algn="l" fontAlgn="auto">
                <a:lnSpc>
                  <a:spcPct val="200000"/>
                </a:lnSpc>
                <a:buClrTx/>
                <a:buSzTx/>
                <a:buFontTx/>
              </a:pPr>
              <a:r>
                <a:rPr lang="zh-CN" altLang="en-US" dirty="0">
                  <a:cs typeface="+mn-ea"/>
                  <a:sym typeface="+mn-ea"/>
                </a:rPr>
                <a:t>姓名：敖宇飞</a:t>
              </a:r>
              <a:endParaRPr lang="zh-CN" altLang="en-US" dirty="0">
                <a:cs typeface="+mn-ea"/>
              </a:endParaRPr>
            </a:p>
            <a:p>
              <a:pPr indent="0" algn="l" fontAlgn="auto">
                <a:lnSpc>
                  <a:spcPct val="200000"/>
                </a:lnSpc>
                <a:buClrTx/>
                <a:buSzTx/>
                <a:buFontTx/>
              </a:pPr>
              <a:r>
                <a:rPr lang="zh-CN" altLang="en-US" dirty="0">
                  <a:cs typeface="+mn-ea"/>
                  <a:sym typeface="+mn-ea"/>
                </a:rPr>
                <a:t>毕业院校：深圳大学</a:t>
              </a:r>
              <a:endParaRPr lang="zh-CN" altLang="en-US" dirty="0">
                <a:cs typeface="+mn-ea"/>
              </a:endParaRPr>
            </a:p>
            <a:p>
              <a:pPr indent="0" algn="l" fontAlgn="auto">
                <a:lnSpc>
                  <a:spcPct val="200000"/>
                </a:lnSpc>
                <a:buClrTx/>
                <a:buSzTx/>
                <a:buFontTx/>
              </a:pPr>
              <a:r>
                <a:rPr lang="zh-CN" altLang="en-US" dirty="0">
                  <a:cs typeface="+mn-ea"/>
                  <a:sym typeface="+mn-ea"/>
                </a:rPr>
                <a:t>专业：软件工程</a:t>
              </a:r>
              <a:endParaRPr lang="zh-CN" altLang="en-US" dirty="0">
                <a:cs typeface="+mn-ea"/>
                <a:sym typeface="+mn-ea"/>
              </a:endParaRPr>
            </a:p>
            <a:p>
              <a:pPr indent="0" algn="l" fontAlgn="auto">
                <a:lnSpc>
                  <a:spcPct val="200000"/>
                </a:lnSpc>
                <a:buClrTx/>
                <a:buSzTx/>
                <a:buFontTx/>
              </a:pPr>
              <a:r>
                <a:rPr lang="zh-CN" altLang="en-US" dirty="0">
                  <a:cs typeface="+mn-ea"/>
                  <a:sym typeface="+mn-ea"/>
                </a:rPr>
                <a:t>当前职位：管培生（技术）</a:t>
              </a:r>
              <a:endParaRPr lang="zh-CN" altLang="en-US" dirty="0">
                <a:cs typeface="+mn-ea"/>
                <a:sym typeface="+mn-ea"/>
              </a:endParaRPr>
            </a:p>
            <a:p>
              <a:pPr indent="0" algn="l" fontAlgn="auto">
                <a:lnSpc>
                  <a:spcPct val="200000"/>
                </a:lnSpc>
                <a:buClrTx/>
                <a:buSzTx/>
                <a:buFontTx/>
              </a:pPr>
              <a:r>
                <a:rPr lang="zh-CN" altLang="en-US" dirty="0">
                  <a:cs typeface="+mn-ea"/>
                  <a:sym typeface="+mn-ea"/>
                </a:rPr>
                <a:t>导师：林俊才</a:t>
              </a:r>
              <a:endParaRPr lang="zh-CN" altLang="en-US" dirty="0">
                <a:cs typeface="+mn-ea"/>
                <a:sym typeface="+mn-ea"/>
              </a:endParaRPr>
            </a:p>
          </p:txBody>
        </p:sp>
        <p:sp>
          <p:nvSpPr>
            <p:cNvPr id="13" name="IconBackground1" descr="3bf8e329-d599-40a5-b73c-0d3c2251ac85"/>
            <p:cNvSpPr/>
            <p:nvPr>
              <p:custDataLst>
                <p:tags r:id="rId17"/>
              </p:custDataLst>
            </p:nvPr>
          </p:nvSpPr>
          <p:spPr>
            <a:xfrm>
              <a:off x="892355" y="3848339"/>
              <a:ext cx="520426" cy="520423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Icon1" descr="fcdfa5b6-42a7-41fa-9546-b09e2e630064"/>
            <p:cNvSpPr/>
            <p:nvPr>
              <p:custDataLst>
                <p:tags r:id="rId18"/>
              </p:custDataLst>
            </p:nvPr>
          </p:nvSpPr>
          <p:spPr bwMode="auto">
            <a:xfrm>
              <a:off x="1043756" y="3984491"/>
              <a:ext cx="217625" cy="264934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 descr="4d8a509a-88c5-45d4-a126-dd9284ec4672"/>
          <p:cNvGrpSpPr/>
          <p:nvPr>
            <p:custDataLst>
              <p:tags r:id="rId19"/>
            </p:custDataLst>
          </p:nvPr>
        </p:nvGrpSpPr>
        <p:grpSpPr>
          <a:xfrm rot="0">
            <a:off x="130810" y="4768461"/>
            <a:ext cx="4254500" cy="1542415"/>
            <a:chOff x="790707" y="3721158"/>
            <a:chExt cx="4254500" cy="1542707"/>
          </a:xfrm>
        </p:grpSpPr>
        <p:sp>
          <p:nvSpPr>
            <p:cNvPr id="16" name="ComponentBackground1" descr="b43c3529-a19e-4e4c-b676-66baf0f82c60"/>
            <p:cNvSpPr/>
            <p:nvPr>
              <p:custDataLst>
                <p:tags r:id="rId20"/>
              </p:custDataLst>
            </p:nvPr>
          </p:nvSpPr>
          <p:spPr>
            <a:xfrm>
              <a:off x="790707" y="3721158"/>
              <a:ext cx="4095115" cy="1542707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Bullet1" descr="0a466aae-d029-42d5-9c70-b4f431556c1f"/>
            <p:cNvSpPr txBox="1"/>
            <p:nvPr>
              <p:custDataLst>
                <p:tags r:id="rId21"/>
              </p:custDataLst>
            </p:nvPr>
          </p:nvSpPr>
          <p:spPr>
            <a:xfrm>
              <a:off x="1480317" y="3821261"/>
              <a:ext cx="3564890" cy="497934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r>
                <a:rPr lang="zh-CN" altLang="en-US" b="1">
                  <a:sym typeface="+mn-ea"/>
                </a:rPr>
                <a:t>阅读五花八门的书籍</a:t>
              </a:r>
              <a:endParaRPr lang="en-US" dirty="0"/>
            </a:p>
          </p:txBody>
        </p:sp>
        <p:sp>
          <p:nvSpPr>
            <p:cNvPr id="18" name="Text1" descr="a6b35bff-2cc8-4775-bd29-42260955fb10"/>
            <p:cNvSpPr txBox="1"/>
            <p:nvPr>
              <p:custDataLst>
                <p:tags r:id="rId22"/>
              </p:custDataLst>
            </p:nvPr>
          </p:nvSpPr>
          <p:spPr>
            <a:xfrm>
              <a:off x="1044707" y="4398585"/>
              <a:ext cx="3565525" cy="570973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>
                <a:lnSpc>
                  <a:spcPct val="120000"/>
                </a:lnSpc>
              </a:pPr>
              <a:r>
                <a:rPr lang="zh-CN" altLang="en-US" dirty="0"/>
                <a:t>有助于训练大脑的多维思考能力，在面对复杂问题时更加灵活。</a:t>
              </a:r>
              <a:endParaRPr lang="zh-CN" altLang="en-US" dirty="0"/>
            </a:p>
          </p:txBody>
        </p:sp>
        <p:sp>
          <p:nvSpPr>
            <p:cNvPr id="19" name="IconBackground1" descr="3bf8e329-d599-40a5-b73c-0d3c2251ac85"/>
            <p:cNvSpPr/>
            <p:nvPr>
              <p:custDataLst>
                <p:tags r:id="rId23"/>
              </p:custDataLst>
            </p:nvPr>
          </p:nvSpPr>
          <p:spPr>
            <a:xfrm>
              <a:off x="892355" y="3848339"/>
              <a:ext cx="520426" cy="520423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Icon1" descr="fcdfa5b6-42a7-41fa-9546-b09e2e630064"/>
            <p:cNvSpPr/>
            <p:nvPr>
              <p:custDataLst>
                <p:tags r:id="rId24"/>
              </p:custDataLst>
            </p:nvPr>
          </p:nvSpPr>
          <p:spPr bwMode="auto">
            <a:xfrm>
              <a:off x="1043756" y="3984491"/>
              <a:ext cx="217625" cy="264934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9" name="组合 38" descr="4d8a509a-88c5-45d4-a126-dd9284ec4672"/>
          <p:cNvGrpSpPr/>
          <p:nvPr>
            <p:custDataLst>
              <p:tags r:id="rId25"/>
            </p:custDataLst>
          </p:nvPr>
        </p:nvGrpSpPr>
        <p:grpSpPr>
          <a:xfrm rot="0">
            <a:off x="7809230" y="1469636"/>
            <a:ext cx="4254500" cy="1542415"/>
            <a:chOff x="790707" y="3721158"/>
            <a:chExt cx="4254500" cy="1542707"/>
          </a:xfrm>
        </p:grpSpPr>
        <p:sp>
          <p:nvSpPr>
            <p:cNvPr id="46" name="ComponentBackground1" descr="b43c3529-a19e-4e4c-b676-66baf0f82c60"/>
            <p:cNvSpPr/>
            <p:nvPr>
              <p:custDataLst>
                <p:tags r:id="rId26"/>
              </p:custDataLst>
            </p:nvPr>
          </p:nvSpPr>
          <p:spPr>
            <a:xfrm>
              <a:off x="790707" y="3721158"/>
              <a:ext cx="4095115" cy="1542707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7" name="Bullet1" descr="0a466aae-d029-42d5-9c70-b4f431556c1f"/>
            <p:cNvSpPr txBox="1"/>
            <p:nvPr>
              <p:custDataLst>
                <p:tags r:id="rId27"/>
              </p:custDataLst>
            </p:nvPr>
          </p:nvSpPr>
          <p:spPr>
            <a:xfrm>
              <a:off x="1480317" y="3837139"/>
              <a:ext cx="3564890" cy="482056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b="1" dirty="0">
                  <a:cs typeface="+mn-ea"/>
                </a:rPr>
                <a:t>核心平台操作</a:t>
              </a:r>
              <a:endParaRPr lang="zh-CN" altLang="en-US" b="1" dirty="0">
                <a:cs typeface="+mn-ea"/>
              </a:endParaRPr>
            </a:p>
          </p:txBody>
        </p:sp>
        <p:sp>
          <p:nvSpPr>
            <p:cNvPr id="48" name="Text1" descr="a6b35bff-2cc8-4775-bd29-42260955fb10"/>
            <p:cNvSpPr txBox="1"/>
            <p:nvPr>
              <p:custDataLst>
                <p:tags r:id="rId28"/>
              </p:custDataLst>
            </p:nvPr>
          </p:nvSpPr>
          <p:spPr>
            <a:xfrm>
              <a:off x="1007877" y="4413828"/>
              <a:ext cx="3752850" cy="5709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cs typeface="+mn-ea"/>
                  <a:sym typeface="+mn-lt"/>
                </a:rPr>
                <a:t>精通</a:t>
              </a:r>
              <a:r>
                <a:rPr lang="en-US" altLang="zh-CN" dirty="0">
                  <a:cs typeface="+mn-ea"/>
                  <a:sym typeface="+mn-lt"/>
                </a:rPr>
                <a:t>Dify</a:t>
              </a:r>
              <a:r>
                <a:rPr lang="zh-CN" altLang="en-US" dirty="0">
                  <a:cs typeface="+mn-ea"/>
                  <a:sym typeface="+mn-lt"/>
                </a:rPr>
                <a:t>工作流等</a:t>
              </a:r>
              <a:r>
                <a:rPr lang="en-US" altLang="zh-CN" dirty="0">
                  <a:cs typeface="+mn-ea"/>
                  <a:sym typeface="+mn-lt"/>
                </a:rPr>
                <a:t>AI</a:t>
              </a:r>
              <a:r>
                <a:rPr lang="zh-CN" altLang="en-US" dirty="0">
                  <a:cs typeface="+mn-ea"/>
                  <a:sym typeface="+mn-lt"/>
                </a:rPr>
                <a:t>应用工具，熟悉</a:t>
              </a:r>
              <a:r>
                <a:rPr lang="en-US" altLang="zh-CN" dirty="0">
                  <a:cs typeface="+mn-ea"/>
                  <a:sym typeface="+mn-lt"/>
                </a:rPr>
                <a:t>openclaw</a:t>
              </a:r>
              <a:r>
                <a:rPr lang="zh-CN" altLang="en-US" dirty="0">
                  <a:cs typeface="+mn-ea"/>
                  <a:sym typeface="+mn-lt"/>
                </a:rPr>
                <a:t>配置逻辑与实操方法。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9" name="IconBackground1" descr="3bf8e329-d599-40a5-b73c-0d3c2251ac85"/>
            <p:cNvSpPr/>
            <p:nvPr>
              <p:custDataLst>
                <p:tags r:id="rId29"/>
              </p:custDataLst>
            </p:nvPr>
          </p:nvSpPr>
          <p:spPr>
            <a:xfrm>
              <a:off x="892355" y="3848339"/>
              <a:ext cx="520426" cy="520423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con1" descr="fcdfa5b6-42a7-41fa-9546-b09e2e630064"/>
            <p:cNvSpPr/>
            <p:nvPr>
              <p:custDataLst>
                <p:tags r:id="rId30"/>
              </p:custDataLst>
            </p:nvPr>
          </p:nvSpPr>
          <p:spPr bwMode="auto">
            <a:xfrm>
              <a:off x="1043756" y="3984491"/>
              <a:ext cx="217625" cy="264934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 descr="563e2fa3-7152-4180-814b-2f06ca9d3b5c"/>
          <p:cNvGrpSpPr/>
          <p:nvPr>
            <p:custDataLst>
              <p:tags r:id="rId31"/>
            </p:custDataLst>
          </p:nvPr>
        </p:nvGrpSpPr>
        <p:grpSpPr>
          <a:xfrm rot="0">
            <a:off x="7809230" y="3103245"/>
            <a:ext cx="4243071" cy="1541145"/>
            <a:chOff x="4369313" y="3722018"/>
            <a:chExt cx="4242985" cy="1541209"/>
          </a:xfrm>
        </p:grpSpPr>
        <p:sp>
          <p:nvSpPr>
            <p:cNvPr id="52" name="ComponentBackground2" descr="93b16790-0aa6-4457-947d-126922c40f33"/>
            <p:cNvSpPr/>
            <p:nvPr>
              <p:custDataLst>
                <p:tags r:id="rId32"/>
              </p:custDataLst>
            </p:nvPr>
          </p:nvSpPr>
          <p:spPr>
            <a:xfrm>
              <a:off x="4369313" y="3722018"/>
              <a:ext cx="4095032" cy="1541209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IconBackground2" descr="e68c575b-8f45-46f3-b73c-5e47184d7023"/>
            <p:cNvSpPr/>
            <p:nvPr>
              <p:custDataLst>
                <p:tags r:id="rId33"/>
              </p:custDataLst>
            </p:nvPr>
          </p:nvSpPr>
          <p:spPr>
            <a:xfrm>
              <a:off x="4470961" y="3887770"/>
              <a:ext cx="520426" cy="520423"/>
            </a:xfrm>
            <a:prstGeom prst="ellipse">
              <a:avLst/>
            </a:prstGeom>
            <a:solidFill>
              <a:schemeClr val="accent2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4" name="Icon2" descr="64c196cf-bfad-4fca-a734-16e194bb0d9d"/>
            <p:cNvSpPr/>
            <p:nvPr>
              <p:custDataLst>
                <p:tags r:id="rId34"/>
              </p:custDataLst>
            </p:nvPr>
          </p:nvSpPr>
          <p:spPr bwMode="auto">
            <a:xfrm>
              <a:off x="4610757" y="4065876"/>
              <a:ext cx="240824" cy="191767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9 w 514350"/>
                <a:gd name="connsiteY4" fmla="*/ 353046 h 409575"/>
                <a:gd name="connsiteX5" fmla="*/ 115387 w 514350"/>
                <a:gd name="connsiteY5" fmla="*/ 410196 h 409575"/>
                <a:gd name="connsiteX6" fmla="*/ 115387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Bullet2" descr="978e5818-0efb-4191-b440-fd4d823e0296"/>
            <p:cNvSpPr txBox="1"/>
            <p:nvPr>
              <p:custDataLst>
                <p:tags r:id="rId35"/>
              </p:custDataLst>
            </p:nvPr>
          </p:nvSpPr>
          <p:spPr>
            <a:xfrm>
              <a:off x="5047480" y="3854104"/>
              <a:ext cx="3564818" cy="481350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r>
                <a:rPr lang="zh-CN" altLang="en-US" b="1" dirty="0"/>
                <a:t>编程能力</a:t>
              </a:r>
              <a:endParaRPr lang="zh-CN" altLang="en-US" b="1" dirty="0"/>
            </a:p>
          </p:txBody>
        </p:sp>
        <p:sp>
          <p:nvSpPr>
            <p:cNvPr id="56" name="Text2" descr="d869e0b5-f344-4d56-b869-ee031e17f7a9"/>
            <p:cNvSpPr txBox="1"/>
            <p:nvPr>
              <p:custDataLst>
                <p:tags r:id="rId36"/>
              </p:custDataLst>
            </p:nvPr>
          </p:nvSpPr>
          <p:spPr>
            <a:xfrm>
              <a:off x="4616316" y="4408481"/>
              <a:ext cx="3564818" cy="6382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cs typeface="+mn-ea"/>
                  <a:sym typeface="+mn-lt"/>
                </a:rPr>
                <a:t>熟练运用</a:t>
              </a:r>
              <a:r>
                <a:rPr lang="en-US" altLang="zh-CN" dirty="0">
                  <a:cs typeface="+mn-ea"/>
                  <a:sym typeface="+mn-lt"/>
                </a:rPr>
                <a:t>Python</a:t>
              </a:r>
              <a:r>
                <a:rPr lang="zh-CN" altLang="en-US" dirty="0">
                  <a:cs typeface="+mn-ea"/>
                  <a:sym typeface="+mn-lt"/>
                </a:rPr>
                <a:t>进行脚本开发及应用架构搭建。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57" name="组合 56" descr="4d8a509a-88c5-45d4-a126-dd9284ec4672"/>
          <p:cNvGrpSpPr/>
          <p:nvPr>
            <p:custDataLst>
              <p:tags r:id="rId37"/>
            </p:custDataLst>
          </p:nvPr>
        </p:nvGrpSpPr>
        <p:grpSpPr>
          <a:xfrm rot="0">
            <a:off x="7809230" y="4736076"/>
            <a:ext cx="4254500" cy="1542415"/>
            <a:chOff x="790707" y="3721158"/>
            <a:chExt cx="4254500" cy="1542707"/>
          </a:xfrm>
        </p:grpSpPr>
        <p:sp>
          <p:nvSpPr>
            <p:cNvPr id="58" name="ComponentBackground1" descr="b43c3529-a19e-4e4c-b676-66baf0f82c60"/>
            <p:cNvSpPr/>
            <p:nvPr>
              <p:custDataLst>
                <p:tags r:id="rId38"/>
              </p:custDataLst>
            </p:nvPr>
          </p:nvSpPr>
          <p:spPr>
            <a:xfrm>
              <a:off x="790707" y="3721158"/>
              <a:ext cx="4095115" cy="1542707"/>
            </a:xfrm>
            <a:prstGeom prst="roundRect">
              <a:avLst>
                <a:gd name="adj" fmla="val 7320"/>
              </a:avLst>
            </a:prstGeom>
            <a:solidFill>
              <a:schemeClr val="tx2">
                <a:alpha val="15000"/>
              </a:schemeClr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9" name="Bullet1" descr="0a466aae-d029-42d5-9c70-b4f431556c1f"/>
            <p:cNvSpPr txBox="1"/>
            <p:nvPr>
              <p:custDataLst>
                <p:tags r:id="rId39"/>
              </p:custDataLst>
            </p:nvPr>
          </p:nvSpPr>
          <p:spPr>
            <a:xfrm>
              <a:off x="1480317" y="3821261"/>
              <a:ext cx="3564890" cy="497934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r>
                <a:rPr lang="zh-CN" altLang="en-US" b="1" dirty="0"/>
                <a:t>容器管理能力</a:t>
              </a:r>
              <a:endParaRPr lang="zh-CN" altLang="en-US" b="1" dirty="0"/>
            </a:p>
          </p:txBody>
        </p:sp>
        <p:sp>
          <p:nvSpPr>
            <p:cNvPr id="60" name="Text1" descr="a6b35bff-2cc8-4775-bd29-42260955fb10"/>
            <p:cNvSpPr txBox="1"/>
            <p:nvPr>
              <p:custDataLst>
                <p:tags r:id="rId40"/>
              </p:custDataLst>
            </p:nvPr>
          </p:nvSpPr>
          <p:spPr>
            <a:xfrm>
              <a:off x="922787" y="4439479"/>
              <a:ext cx="3989070" cy="570973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>
                <a:lnSpc>
                  <a:spcPct val="120000"/>
                </a:lnSpc>
              </a:pPr>
              <a:r>
                <a:rPr lang="zh-CN" altLang="en-US" dirty="0"/>
                <a:t>掌握</a:t>
              </a:r>
              <a:r>
                <a:rPr lang="en-US" altLang="zh-CN" dirty="0"/>
                <a:t>Docker</a:t>
              </a:r>
              <a:r>
                <a:rPr lang="zh-CN" altLang="en-US" dirty="0"/>
                <a:t>容器化部署管理、本地化开源项目部署及调试的全链路能力</a:t>
              </a:r>
              <a:endParaRPr lang="zh-CN" altLang="en-US" dirty="0"/>
            </a:p>
          </p:txBody>
        </p:sp>
        <p:sp>
          <p:nvSpPr>
            <p:cNvPr id="61" name="IconBackground1" descr="3bf8e329-d599-40a5-b73c-0d3c2251ac85"/>
            <p:cNvSpPr/>
            <p:nvPr>
              <p:custDataLst>
                <p:tags r:id="rId41"/>
              </p:custDataLst>
            </p:nvPr>
          </p:nvSpPr>
          <p:spPr>
            <a:xfrm>
              <a:off x="892355" y="3848339"/>
              <a:ext cx="520426" cy="520423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Icon1" descr="fcdfa5b6-42a7-41fa-9546-b09e2e630064"/>
            <p:cNvSpPr/>
            <p:nvPr>
              <p:custDataLst>
                <p:tags r:id="rId42"/>
              </p:custDataLst>
            </p:nvPr>
          </p:nvSpPr>
          <p:spPr bwMode="auto">
            <a:xfrm>
              <a:off x="1043756" y="3984491"/>
              <a:ext cx="217625" cy="264934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43"/>
          <a:srcRect t="15047"/>
          <a:stretch>
            <a:fillRect/>
          </a:stretch>
        </p:blipFill>
        <p:spPr>
          <a:xfrm>
            <a:off x="6429375" y="1629410"/>
            <a:ext cx="1135380" cy="1507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999c85ec-3c23-491c-ac17-cd325cb86998.source.3.zh-Hans.pptx" descr="82e37ae3-3637-4f44-a055-14f39ae7a6ba"/>
          <p:cNvGrpSpPr/>
          <p:nvPr>
            <p:custDataLst>
              <p:tags r:id="rId1"/>
            </p:custDataLst>
          </p:nvPr>
        </p:nvGrpSpPr>
        <p:grpSpPr>
          <a:xfrm>
            <a:off x="660400" y="903605"/>
            <a:ext cx="10858500" cy="5208604"/>
            <a:chOff x="660400" y="1130300"/>
            <a:chExt cx="10858500" cy="5208604"/>
          </a:xfrm>
        </p:grpSpPr>
        <p:sp>
          <p:nvSpPr>
            <p:cNvPr id="251" name="箭头: 右 250" descr="8d37ac1f-8c01-4223-8767-a5b6d7a725be"/>
            <p:cNvSpPr/>
            <p:nvPr>
              <p:custDataLst>
                <p:tags r:id="rId2"/>
              </p:custDataLst>
            </p:nvPr>
          </p:nvSpPr>
          <p:spPr>
            <a:xfrm>
              <a:off x="978568" y="1701800"/>
              <a:ext cx="10540332" cy="733359"/>
            </a:xfrm>
            <a:prstGeom prst="rightArrow">
              <a:avLst>
                <a:gd name="adj1" fmla="val 71521"/>
                <a:gd name="adj2" fmla="val 50000"/>
              </a:avLst>
            </a:prstGeom>
            <a:gradFill flip="none" rotWithShape="0">
              <a:gsLst>
                <a:gs pos="2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8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21" name="直接连接符 320" descr="5ac2bd3d-a497-4ced-8f71-a9f306f83609"/>
            <p:cNvCxnSpPr>
              <a:endCxn id="324" idx="0"/>
            </p:cNvCxnSpPr>
            <p:nvPr>
              <p:custDataLst>
                <p:tags r:id="rId3"/>
              </p:custDataLst>
            </p:nvPr>
          </p:nvCxnSpPr>
          <p:spPr>
            <a:xfrm>
              <a:off x="1100867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ShapeOval 338" descr="cdb57bb6-f99d-4d6c-ba99-94dc3cc11d8f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031342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0" name="矩形 249" descr="57c50817-0604-4741-b147-43fefab74f82"/>
            <p:cNvSpPr/>
            <p:nvPr>
              <p:custDataLst>
                <p:tags r:id="rId5"/>
              </p:custDataLst>
            </p:nvPr>
          </p:nvSpPr>
          <p:spPr>
            <a:xfrm>
              <a:off x="660400" y="6130242"/>
              <a:ext cx="10858500" cy="101780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 fontScale="85000" lnSpcReduction="20000"/>
            </a:bodyPr>
            <a:lstStyle/>
            <a:p>
              <a:pPr algn="ctr"/>
              <a:endParaRPr lang="zh-CN" altLang="en-US" sz="9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24" name="ShapeOval 324" descr="73df39f4-238d-42c7-b494-326ad255c8da"/>
            <p:cNvSpPr/>
            <p:nvPr>
              <p:custDataLst>
                <p:tags r:id="rId6"/>
              </p:custDataLst>
            </p:nvPr>
          </p:nvSpPr>
          <p:spPr>
            <a:xfrm>
              <a:off x="966089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25" name="ShapeOval 325" descr="4443e03a-9f64-4135-9eea-072fd54613ef"/>
            <p:cNvSpPr/>
            <p:nvPr>
              <p:custDataLst>
                <p:tags r:id="rId7"/>
              </p:custDataLst>
            </p:nvPr>
          </p:nvSpPr>
          <p:spPr>
            <a:xfrm>
              <a:off x="1041689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3" name="ShapeOval 303" descr="0f313f72-b51f-4373-b83c-52cfe4b01b5e"/>
            <p:cNvSpPr/>
            <p:nvPr>
              <p:custDataLst>
                <p:tags r:id="rId8"/>
              </p:custDataLst>
            </p:nvPr>
          </p:nvSpPr>
          <p:spPr>
            <a:xfrm>
              <a:off x="4570001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4" name="ShapeOval 304" descr="e8346c31-e1d1-4867-abf1-dff2d0a8905e"/>
            <p:cNvSpPr/>
            <p:nvPr>
              <p:custDataLst>
                <p:tags r:id="rId9"/>
              </p:custDataLst>
            </p:nvPr>
          </p:nvSpPr>
          <p:spPr>
            <a:xfrm>
              <a:off x="4645601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2" name="ShapeOval 282" descr="b7aa21e2-6f93-4bc6-a57d-df0b57ce69a2"/>
            <p:cNvSpPr/>
            <p:nvPr>
              <p:custDataLst>
                <p:tags r:id="rId10"/>
              </p:custDataLst>
            </p:nvPr>
          </p:nvSpPr>
          <p:spPr>
            <a:xfrm>
              <a:off x="8173913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3" name="ShapeOval 283" descr="b52dc03d-fb63-48e0-96c9-21c42695b1ab"/>
            <p:cNvSpPr/>
            <p:nvPr>
              <p:custDataLst>
                <p:tags r:id="rId11"/>
              </p:custDataLst>
            </p:nvPr>
          </p:nvSpPr>
          <p:spPr>
            <a:xfrm>
              <a:off x="8249513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00" name="直接连接符 299" descr="c98fb004-2ce2-4660-a102-a38af81afce9"/>
            <p:cNvCxnSpPr>
              <a:endCxn id="303" idx="0"/>
            </p:cNvCxnSpPr>
            <p:nvPr>
              <p:custDataLst>
                <p:tags r:id="rId12"/>
              </p:custDataLst>
            </p:nvPr>
          </p:nvCxnSpPr>
          <p:spPr>
            <a:xfrm>
              <a:off x="4704779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ShapeOval 5" descr="917ca619-23fd-434f-9ace-ccaa778cb100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4639227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279" name="直接连接符 278" descr="14802a38-e85a-4593-8264-5ed2f5fefce5"/>
            <p:cNvCxnSpPr>
              <a:endCxn id="282" idx="0"/>
            </p:cNvCxnSpPr>
            <p:nvPr>
              <p:custDataLst>
                <p:tags r:id="rId14"/>
              </p:custDataLst>
            </p:nvPr>
          </p:nvCxnSpPr>
          <p:spPr>
            <a:xfrm>
              <a:off x="8295868" y="2248747"/>
              <a:ext cx="25645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hapeOval 7" descr="3a4b586d-db1d-4a8e-8799-064d9de54cbe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8244331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Title" descr="d6eab334-f632-4ae9-9ff5-84df7c1b64da"/>
            <p:cNvSpPr txBox="1"/>
            <p:nvPr/>
          </p:nvSpPr>
          <p:spPr>
            <a:xfrm>
              <a:off x="660400" y="1130300"/>
              <a:ext cx="1085850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ea"/>
                </a:rPr>
                <a:t>工作成果</a:t>
              </a:r>
              <a:r>
                <a:rPr lang="en-US" altLang="zh-CN" sz="2400" b="1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ea"/>
                </a:rPr>
                <a:t> 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ea"/>
                </a:rPr>
                <a:t>——</a:t>
              </a:r>
              <a:r>
                <a:rPr lang="en-US" altLang="zh-CN" sz="2400" b="1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ea"/>
                </a:rPr>
                <a:t> 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ea"/>
                </a:rPr>
                <a:t>短信材料智能提取系统</a:t>
              </a:r>
              <a:endParaRPr lang="en-US" dirty="0"/>
            </a:p>
          </p:txBody>
        </p:sp>
        <p:grpSp>
          <p:nvGrpSpPr>
            <p:cNvPr id="4" name="组合 3" descr="9ea1ab77-4f28-4741-b9e5-3f801e2b8321"/>
            <p:cNvGrpSpPr/>
            <p:nvPr/>
          </p:nvGrpSpPr>
          <p:grpSpPr>
            <a:xfrm>
              <a:off x="789689" y="1744478"/>
              <a:ext cx="3515995" cy="4288790"/>
              <a:chOff x="789689" y="1744478"/>
              <a:chExt cx="3515995" cy="4288790"/>
            </a:xfrm>
          </p:grpSpPr>
          <p:sp>
            <p:nvSpPr>
              <p:cNvPr id="339" name="Text1" descr="f36d5b82-8b0d-4741-9115-081a0bc003fb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368174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 lnSpcReduction="10000"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cs typeface="+mn-ea"/>
                    <a:sym typeface="+mn-lt"/>
                  </a:rPr>
                  <a:t>运营需</a:t>
                </a:r>
                <a:r>
                  <a:rPr kumimoji="1" lang="zh-CN" altLang="en-US" b="0" dirty="0">
                    <a:cs typeface="+mn-ea"/>
                    <a:sym typeface="+mn-lt"/>
                  </a:rPr>
                  <a:t>手动整理压缩包或Excel中的报备材料，</a:t>
                </a:r>
                <a:r>
                  <a:rPr kumimoji="1" lang="zh-CN" altLang="en-US" dirty="0">
                    <a:solidFill>
                      <a:srgbClr val="FF0000"/>
                    </a:solidFill>
                    <a:cs typeface="+mn-ea"/>
                    <a:sym typeface="+mn-lt"/>
                  </a:rPr>
                  <a:t>工作重复且耗时时间长</a:t>
                </a:r>
                <a:r>
                  <a:rPr kumimoji="1" lang="zh-CN" altLang="en-US" b="0" dirty="0">
                    <a:cs typeface="+mn-ea"/>
                    <a:sym typeface="+mn-lt"/>
                  </a:rPr>
                  <a:t>，影响后续流程。</a:t>
                </a:r>
                <a:endParaRPr kumimoji="1" lang="zh-CN" altLang="en-US" b="0" dirty="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320" name="Bullet1" descr="38340408-2ae7-4b62-a69f-3295833f36c6"/>
              <p:cNvSpPr/>
              <p:nvPr>
                <p:custDataLst>
                  <p:tags r:id="rId17"/>
                </p:custDataLst>
              </p:nvPr>
            </p:nvSpPr>
            <p:spPr>
              <a:xfrm>
                <a:off x="1371938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背景分析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2" name="Number1" descr="328ddf85-74f0-4faf-82c3-1a986a33154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89689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68b69711-db51-4f58-953e-5b54e229de1b"/>
            <p:cNvGrpSpPr/>
            <p:nvPr/>
          </p:nvGrpSpPr>
          <p:grpSpPr>
            <a:xfrm>
              <a:off x="4393601" y="1744478"/>
              <a:ext cx="3520440" cy="4297680"/>
              <a:chOff x="4393601" y="1744478"/>
              <a:chExt cx="3520440" cy="4297680"/>
            </a:xfrm>
          </p:grpSpPr>
          <p:sp>
            <p:nvSpPr>
              <p:cNvPr id="299" name="Bullet2" descr="6de37ffb-c043-4d8b-98c1-99f69fc02b1a"/>
              <p:cNvSpPr/>
              <p:nvPr>
                <p:custDataLst>
                  <p:tags r:id="rId19"/>
                </p:custDataLst>
              </p:nvPr>
            </p:nvSpPr>
            <p:spPr>
              <a:xfrm>
                <a:off x="4975850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成果展示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1" name="Number2" descr="1ab12b13-9139-4063-b331-ff4fd3a5d9e0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93601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15000">
                    <a:schemeClr val="accent2">
                      <a:lumMod val="60000"/>
                      <a:lumOff val="40000"/>
                    </a:schemeClr>
                  </a:gs>
                  <a:gs pos="77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Text2" descr="7a1aba65-d264-4371-8caf-0e38b64caeaa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976531" y="266713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l">
                  <a:lnSpc>
                    <a:spcPts val="266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cs typeface="+mn-ea"/>
                    <a:sym typeface="+mn-lt"/>
                  </a:rPr>
                  <a:t>利用</a:t>
                </a:r>
                <a:r>
                  <a:rPr kumimoji="1" lang="zh-CN" altLang="en-US" dirty="0">
                    <a:sym typeface="+mn-lt"/>
                  </a:rPr>
                  <a:t>Dify</a:t>
                </a:r>
                <a:r>
                  <a:rPr kumimoji="1" lang="zh-CN" altLang="en-US" b="0" dirty="0">
                    <a:cs typeface="+mn-ea"/>
                    <a:sym typeface="+mn-lt"/>
                  </a:rPr>
                  <a:t>结合</a:t>
                </a:r>
                <a:r>
                  <a:rPr kumimoji="1" lang="zh-CN" altLang="en-US" dirty="0">
                    <a:sym typeface="+mn-lt"/>
                  </a:rPr>
                  <a:t>Python</a:t>
                </a:r>
                <a:r>
                  <a:rPr kumimoji="1" lang="zh-CN" altLang="en-US" b="0" dirty="0">
                    <a:cs typeface="+mn-ea"/>
                    <a:sym typeface="+mn-lt"/>
                  </a:rPr>
                  <a:t>脚本，开发了自动提取系统，能识别材料并建立关联关系，自动存入资质库。</a:t>
                </a:r>
                <a:endParaRPr kumimoji="1"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 descr="b13fe2f1-83f0-4e95-94b6-b0f7ba75c148"/>
            <p:cNvGrpSpPr/>
            <p:nvPr/>
          </p:nvGrpSpPr>
          <p:grpSpPr>
            <a:xfrm>
              <a:off x="7997513" y="1744478"/>
              <a:ext cx="3521075" cy="4288790"/>
              <a:chOff x="7997513" y="1744478"/>
              <a:chExt cx="3521075" cy="4288790"/>
            </a:xfrm>
          </p:grpSpPr>
          <p:sp>
            <p:nvSpPr>
              <p:cNvPr id="278" name="Bullet3" descr="e6dcbd4a-6d5a-4f67-915b-83c29a8cd6f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579762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未来展望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0" name="Number3" descr="8dc0ec34-722e-4e9d-b0a5-26e3bcf172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7997513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03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Text3" descr="cb96797f-0f6d-4ab4-ac0b-76b0f4f41dde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8581078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cs typeface="+mn-ea"/>
                    <a:sym typeface="+mn-lt"/>
                  </a:rPr>
                  <a:t>该系统预计能在大型或复杂压缩包或</a:t>
                </a:r>
                <a:r>
                  <a:rPr kumimoji="1" lang="en-US" altLang="zh-CN" b="0" dirty="0">
                    <a:cs typeface="+mn-ea"/>
                    <a:sym typeface="+mn-lt"/>
                  </a:rPr>
                  <a:t> Excel </a:t>
                </a:r>
                <a:r>
                  <a:rPr kumimoji="1" lang="zh-CN" altLang="en-US" b="0" dirty="0">
                    <a:cs typeface="+mn-ea"/>
                    <a:sym typeface="+mn-lt"/>
                  </a:rPr>
                  <a:t>的情况下，减少运营的至少</a:t>
                </a:r>
                <a:r>
                  <a:rPr kumimoji="1" lang="en-US" altLang="zh-CN" b="0" dirty="0">
                    <a:cs typeface="+mn-ea"/>
                    <a:sym typeface="+mn-lt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sym typeface="+mn-lt"/>
                  </a:rPr>
                  <a:t>65% </a:t>
                </a:r>
                <a:r>
                  <a:rPr kumimoji="1" lang="zh-CN" altLang="en-US" b="0" dirty="0">
                    <a:cs typeface="+mn-ea"/>
                    <a:sym typeface="+mn-lt"/>
                  </a:rPr>
                  <a:t>材料整理时间。</a:t>
                </a:r>
                <a:endParaRPr kumimoji="1"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同时，</a:t>
                </a:r>
                <a:r>
                  <a:rPr lang="en-US" altLang="zh-CN" b="0" dirty="0">
                    <a:cs typeface="+mn-ea"/>
                    <a:sym typeface="+mn-lt"/>
                  </a:rPr>
                  <a:t>VLM </a:t>
                </a:r>
                <a:r>
                  <a:rPr lang="zh-CN" altLang="en-US" b="0" dirty="0">
                    <a:cs typeface="+mn-ea"/>
                    <a:sym typeface="+mn-lt"/>
                  </a:rPr>
                  <a:t>对图片材料的</a:t>
                </a:r>
                <a:r>
                  <a:rPr kumimoji="1" lang="zh-CN" altLang="en-US" b="0" dirty="0">
                    <a:cs typeface="+mn-ea"/>
                    <a:sym typeface="+mn-lt"/>
                  </a:rPr>
                  <a:t>数据提取准确性从</a:t>
                </a:r>
                <a:r>
                  <a:rPr kumimoji="1" lang="en-US" altLang="zh-CN" b="0" dirty="0">
                    <a:cs typeface="+mn-ea"/>
                    <a:sym typeface="+mn-lt"/>
                  </a:rPr>
                  <a:t> 60% </a:t>
                </a:r>
                <a:r>
                  <a:rPr kumimoji="1" lang="zh-CN" altLang="en-US" b="0" dirty="0">
                    <a:cs typeface="+mn-ea"/>
                    <a:sym typeface="+mn-lt"/>
                  </a:rPr>
                  <a:t>达到</a:t>
                </a:r>
                <a:r>
                  <a:rPr kumimoji="1" lang="en-US" altLang="zh-CN" b="0" dirty="0">
                    <a:cs typeface="+mn-ea"/>
                    <a:sym typeface="+mn-lt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sym typeface="+mn-lt"/>
                  </a:rPr>
                  <a:t>85%</a:t>
                </a:r>
                <a:r>
                  <a:rPr kumimoji="1" lang="zh-CN" altLang="en-US" b="0" dirty="0">
                    <a:cs typeface="+mn-ea"/>
                    <a:sym typeface="+mn-lt"/>
                  </a:rPr>
                  <a:t>。</a:t>
                </a:r>
                <a:endParaRPr kumimoji="1" lang="zh-CN" altLang="en-US" b="0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3540" y="4304665"/>
            <a:ext cx="2416810" cy="14008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16195" y="4455160"/>
            <a:ext cx="2621280" cy="1250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999c85ec-3c23-491c-ac17-cd325cb86998.source.3.zh-Hans.pptx" descr="82e37ae3-3637-4f44-a055-14f39ae7a6ba"/>
          <p:cNvGrpSpPr/>
          <p:nvPr>
            <p:custDataLst>
              <p:tags r:id="rId1"/>
            </p:custDataLst>
          </p:nvPr>
        </p:nvGrpSpPr>
        <p:grpSpPr>
          <a:xfrm>
            <a:off x="660400" y="903605"/>
            <a:ext cx="10858500" cy="5208604"/>
            <a:chOff x="660400" y="1130300"/>
            <a:chExt cx="10858500" cy="5208604"/>
          </a:xfrm>
        </p:grpSpPr>
        <p:sp>
          <p:nvSpPr>
            <p:cNvPr id="251" name="箭头: 右 250" descr="8d37ac1f-8c01-4223-8767-a5b6d7a725be"/>
            <p:cNvSpPr/>
            <p:nvPr>
              <p:custDataLst>
                <p:tags r:id="rId2"/>
              </p:custDataLst>
            </p:nvPr>
          </p:nvSpPr>
          <p:spPr>
            <a:xfrm>
              <a:off x="978568" y="1701800"/>
              <a:ext cx="10540332" cy="733359"/>
            </a:xfrm>
            <a:prstGeom prst="rightArrow">
              <a:avLst>
                <a:gd name="adj1" fmla="val 71521"/>
                <a:gd name="adj2" fmla="val 50000"/>
              </a:avLst>
            </a:prstGeom>
            <a:gradFill flip="none" rotWithShape="0">
              <a:gsLst>
                <a:gs pos="2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8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21" name="直接连接符 320" descr="5ac2bd3d-a497-4ced-8f71-a9f306f83609"/>
            <p:cNvCxnSpPr>
              <a:endCxn id="324" idx="0"/>
            </p:cNvCxnSpPr>
            <p:nvPr>
              <p:custDataLst>
                <p:tags r:id="rId3"/>
              </p:custDataLst>
            </p:nvPr>
          </p:nvCxnSpPr>
          <p:spPr>
            <a:xfrm>
              <a:off x="1100867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ShapeOval 338" descr="cdb57bb6-f99d-4d6c-ba99-94dc3cc11d8f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031342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0" name="矩形 249" descr="57c50817-0604-4741-b147-43fefab74f82"/>
            <p:cNvSpPr/>
            <p:nvPr>
              <p:custDataLst>
                <p:tags r:id="rId5"/>
              </p:custDataLst>
            </p:nvPr>
          </p:nvSpPr>
          <p:spPr>
            <a:xfrm>
              <a:off x="660400" y="6130242"/>
              <a:ext cx="10858500" cy="101780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 fontScale="85000" lnSpcReduction="20000"/>
            </a:bodyPr>
            <a:lstStyle/>
            <a:p>
              <a:pPr algn="ctr"/>
              <a:endParaRPr lang="zh-CN" altLang="en-US" sz="9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24" name="ShapeOval 324" descr="73df39f4-238d-42c7-b494-326ad255c8da"/>
            <p:cNvSpPr/>
            <p:nvPr>
              <p:custDataLst>
                <p:tags r:id="rId6"/>
              </p:custDataLst>
            </p:nvPr>
          </p:nvSpPr>
          <p:spPr>
            <a:xfrm>
              <a:off x="966089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25" name="ShapeOval 325" descr="4443e03a-9f64-4135-9eea-072fd54613ef"/>
            <p:cNvSpPr/>
            <p:nvPr>
              <p:custDataLst>
                <p:tags r:id="rId7"/>
              </p:custDataLst>
            </p:nvPr>
          </p:nvSpPr>
          <p:spPr>
            <a:xfrm>
              <a:off x="1041689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3" name="ShapeOval 303" descr="0f313f72-b51f-4373-b83c-52cfe4b01b5e"/>
            <p:cNvSpPr/>
            <p:nvPr>
              <p:custDataLst>
                <p:tags r:id="rId8"/>
              </p:custDataLst>
            </p:nvPr>
          </p:nvSpPr>
          <p:spPr>
            <a:xfrm>
              <a:off x="4570001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4" name="ShapeOval 304" descr="e8346c31-e1d1-4867-abf1-dff2d0a8905e"/>
            <p:cNvSpPr/>
            <p:nvPr>
              <p:custDataLst>
                <p:tags r:id="rId9"/>
              </p:custDataLst>
            </p:nvPr>
          </p:nvSpPr>
          <p:spPr>
            <a:xfrm>
              <a:off x="4645601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2" name="ShapeOval 282" descr="b7aa21e2-6f93-4bc6-a57d-df0b57ce69a2"/>
            <p:cNvSpPr/>
            <p:nvPr>
              <p:custDataLst>
                <p:tags r:id="rId10"/>
              </p:custDataLst>
            </p:nvPr>
          </p:nvSpPr>
          <p:spPr>
            <a:xfrm>
              <a:off x="8173913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3" name="ShapeOval 283" descr="b52dc03d-fb63-48e0-96c9-21c42695b1ab"/>
            <p:cNvSpPr/>
            <p:nvPr>
              <p:custDataLst>
                <p:tags r:id="rId11"/>
              </p:custDataLst>
            </p:nvPr>
          </p:nvSpPr>
          <p:spPr>
            <a:xfrm>
              <a:off x="8249513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00" name="直接连接符 299" descr="c98fb004-2ce2-4660-a102-a38af81afce9"/>
            <p:cNvCxnSpPr>
              <a:endCxn id="303" idx="0"/>
            </p:cNvCxnSpPr>
            <p:nvPr>
              <p:custDataLst>
                <p:tags r:id="rId12"/>
              </p:custDataLst>
            </p:nvPr>
          </p:nvCxnSpPr>
          <p:spPr>
            <a:xfrm>
              <a:off x="4704779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ShapeOval 5" descr="917ca619-23fd-434f-9ace-ccaa778cb100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4639227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279" name="直接连接符 278" descr="14802a38-e85a-4593-8264-5ed2f5fefce5"/>
            <p:cNvCxnSpPr>
              <a:endCxn id="282" idx="0"/>
            </p:cNvCxnSpPr>
            <p:nvPr>
              <p:custDataLst>
                <p:tags r:id="rId14"/>
              </p:custDataLst>
            </p:nvPr>
          </p:nvCxnSpPr>
          <p:spPr>
            <a:xfrm>
              <a:off x="8295868" y="2248747"/>
              <a:ext cx="25645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hapeOval 7" descr="3a4b586d-db1d-4a8e-8799-064d9de54cbe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8244331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Title" descr="d6eab334-f632-4ae9-9ff5-84df7c1b64da"/>
            <p:cNvSpPr txBox="1"/>
            <p:nvPr/>
          </p:nvSpPr>
          <p:spPr>
            <a:xfrm>
              <a:off x="660400" y="1130300"/>
              <a:ext cx="1085850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ea"/>
                </a:rPr>
                <a:t>工作成果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lang="zh-CN" altLang="en-US" sz="2400" b="1" dirty="0">
                  <a:cs typeface="+mn-ea"/>
                  <a:sym typeface="+mn-ea"/>
                </a:rPr>
                <a:t>——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lang="zh-CN" altLang="en-US" sz="2400" b="1" dirty="0">
                  <a:cs typeface="+mn-ea"/>
                  <a:sym typeface="+mn-ea"/>
                </a:rPr>
                <a:t>AI对话机器人（chatbot）雏形搭建</a:t>
              </a:r>
              <a:endParaRPr lang="en-US" dirty="0"/>
            </a:p>
          </p:txBody>
        </p:sp>
        <p:grpSp>
          <p:nvGrpSpPr>
            <p:cNvPr id="4" name="组合 3" descr="9ea1ab77-4f28-4741-b9e5-3f801e2b8321"/>
            <p:cNvGrpSpPr/>
            <p:nvPr/>
          </p:nvGrpSpPr>
          <p:grpSpPr>
            <a:xfrm>
              <a:off x="789689" y="1744478"/>
              <a:ext cx="3515995" cy="4288790"/>
              <a:chOff x="789689" y="1744478"/>
              <a:chExt cx="3515995" cy="4288790"/>
            </a:xfrm>
          </p:grpSpPr>
          <p:sp>
            <p:nvSpPr>
              <p:cNvPr id="339" name="Text1" descr="f36d5b82-8b0d-4741-9115-081a0bc003fb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368174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latin typeface="+mn-lt"/>
                    <a:cs typeface="+mn-ea"/>
                    <a:sym typeface="+mn-lt"/>
                  </a:rPr>
                  <a:t>运营团队需在企微群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手动收集</a:t>
                </a:r>
                <a:r>
                  <a:rPr lang="zh-CN" altLang="en-US" b="0" dirty="0">
                    <a:latin typeface="+mn-lt"/>
                    <a:cs typeface="+mn-ea"/>
                    <a:sym typeface="+mn-lt"/>
                  </a:rPr>
                  <a:t>客户报备资料，流程重复、耗时耗力，存在优化空间。</a:t>
                </a:r>
                <a:endParaRPr lang="zh-CN" altLang="en-US" b="0" dirty="0"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320" name="Bullet1" descr="38340408-2ae7-4b62-a69f-3295833f36c6"/>
              <p:cNvSpPr/>
              <p:nvPr>
                <p:custDataLst>
                  <p:tags r:id="rId17"/>
                </p:custDataLst>
              </p:nvPr>
            </p:nvSpPr>
            <p:spPr>
              <a:xfrm>
                <a:off x="1371938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背景分析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2" name="Number1" descr="328ddf85-74f0-4faf-82c3-1a986a33154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89689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68b69711-db51-4f58-953e-5b54e229de1b"/>
            <p:cNvGrpSpPr/>
            <p:nvPr/>
          </p:nvGrpSpPr>
          <p:grpSpPr>
            <a:xfrm>
              <a:off x="4393601" y="1744478"/>
              <a:ext cx="3520440" cy="4288790"/>
              <a:chOff x="4393601" y="1744478"/>
              <a:chExt cx="3520440" cy="4288790"/>
            </a:xfrm>
          </p:grpSpPr>
          <p:sp>
            <p:nvSpPr>
              <p:cNvPr id="299" name="Bullet2" descr="6de37ffb-c043-4d8b-98c1-99f69fc02b1a"/>
              <p:cNvSpPr/>
              <p:nvPr>
                <p:custDataLst>
                  <p:tags r:id="rId19"/>
                </p:custDataLst>
              </p:nvPr>
            </p:nvSpPr>
            <p:spPr>
              <a:xfrm>
                <a:off x="4975850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成果展示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1" name="Number2" descr="1ab12b13-9139-4063-b331-ff4fd3a5d9e0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93601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15000">
                    <a:schemeClr val="accent2">
                      <a:lumMod val="60000"/>
                      <a:lumOff val="40000"/>
                    </a:schemeClr>
                  </a:gs>
                  <a:gs pos="77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Text2" descr="7a1aba65-d264-4371-8caf-0e38b64caeaa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976531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l">
                  <a:lnSpc>
                    <a:spcPts val="266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基于</a:t>
                </a:r>
                <a:r>
                  <a:rPr lang="zh-CN" altLang="en-US" dirty="0">
                    <a:sym typeface="+mn-lt"/>
                  </a:rPr>
                  <a:t>Dify</a:t>
                </a:r>
                <a:r>
                  <a:rPr lang="zh-CN" altLang="en-US" b="0" dirty="0">
                    <a:cs typeface="+mn-ea"/>
                    <a:sym typeface="+mn-lt"/>
                  </a:rPr>
                  <a:t>平台，成功搭建多轮对话流程，能有效收集用户签名、营业执照、法人信息等关键资料。</a:t>
                </a: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 descr="b13fe2f1-83f0-4e95-94b6-b0f7ba75c148"/>
            <p:cNvGrpSpPr/>
            <p:nvPr/>
          </p:nvGrpSpPr>
          <p:grpSpPr>
            <a:xfrm>
              <a:off x="7997513" y="1744478"/>
              <a:ext cx="3521075" cy="4288790"/>
              <a:chOff x="7997513" y="1744478"/>
              <a:chExt cx="3521075" cy="4288790"/>
            </a:xfrm>
          </p:grpSpPr>
          <p:sp>
            <p:nvSpPr>
              <p:cNvPr id="278" name="Bullet3" descr="e6dcbd4a-6d5a-4f67-915b-83c29a8cd6f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579762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未来展望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0" name="Number3" descr="8dc0ec34-722e-4e9d-b0a5-26e3bcf172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7997513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03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Text3" descr="cb96797f-0f6d-4ab4-ac0b-76b0f4f41dde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8581078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计划与</a:t>
                </a:r>
                <a:r>
                  <a:rPr lang="zh-CN" altLang="en-US" dirty="0">
                    <a:sym typeface="+mn-lt"/>
                  </a:rPr>
                  <a:t>OpenClaw</a:t>
                </a:r>
                <a:r>
                  <a:rPr lang="zh-CN" altLang="en-US" b="0" dirty="0">
                    <a:cs typeface="+mn-ea"/>
                    <a:sym typeface="+mn-lt"/>
                  </a:rPr>
                  <a:t>结合，形成企微群内可用的</a:t>
                </a:r>
                <a:r>
                  <a:rPr lang="zh-CN" altLang="en-US" dirty="0">
                    <a:sym typeface="+mn-lt"/>
                  </a:rPr>
                  <a:t>skill</a:t>
                </a:r>
                <a:r>
                  <a:rPr lang="zh-CN" altLang="en-US" b="0" dirty="0">
                    <a:cs typeface="+mn-ea"/>
                    <a:sym typeface="+mn-lt"/>
                  </a:rPr>
                  <a:t>，最终</a:t>
                </a:r>
                <a:r>
                  <a:rPr lang="zh-CN" altLang="en-US" dirty="0">
                    <a:cs typeface="+mn-ea"/>
                    <a:sym typeface="+mn-lt"/>
                  </a:rPr>
                  <a:t>替代人工</a:t>
                </a:r>
                <a:r>
                  <a:rPr lang="zh-CN" altLang="en-US" b="0" dirty="0">
                    <a:cs typeface="+mn-ea"/>
                    <a:sym typeface="+mn-lt"/>
                  </a:rPr>
                  <a:t>环节。</a:t>
                </a: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2" name="图片 1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210810" y="4394835"/>
            <a:ext cx="1041400" cy="13512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552565" y="4394835"/>
            <a:ext cx="1090930" cy="1324610"/>
          </a:xfrm>
          <a:prstGeom prst="rect">
            <a:avLst/>
          </a:prstGeom>
        </p:spPr>
      </p:pic>
      <p:pic>
        <p:nvPicPr>
          <p:cNvPr id="2" name="图片 1" descr="PPT-补充信息场景图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54480" y="4304030"/>
            <a:ext cx="1124585" cy="1442085"/>
          </a:xfrm>
          <a:prstGeom prst="rect">
            <a:avLst/>
          </a:prstGeom>
        </p:spPr>
      </p:pic>
      <p:pic>
        <p:nvPicPr>
          <p:cNvPr id="3" name="图片 2" descr="微信图片_2026-03-14_155700_427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37815" y="4304030"/>
            <a:ext cx="1165225" cy="14427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5270" y="3883660"/>
            <a:ext cx="1982470" cy="1898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999c85ec-3c23-491c-ac17-cd325cb86998.source.3.zh-Hans.pptx" descr="82e37ae3-3637-4f44-a055-14f39ae7a6ba"/>
          <p:cNvGrpSpPr/>
          <p:nvPr>
            <p:custDataLst>
              <p:tags r:id="rId1"/>
            </p:custDataLst>
          </p:nvPr>
        </p:nvGrpSpPr>
        <p:grpSpPr>
          <a:xfrm>
            <a:off x="660400" y="903605"/>
            <a:ext cx="10858500" cy="5208604"/>
            <a:chOff x="660400" y="1130300"/>
            <a:chExt cx="10858500" cy="5208604"/>
          </a:xfrm>
        </p:grpSpPr>
        <p:sp>
          <p:nvSpPr>
            <p:cNvPr id="251" name="箭头: 右 250" descr="8d37ac1f-8c01-4223-8767-a5b6d7a725be"/>
            <p:cNvSpPr/>
            <p:nvPr>
              <p:custDataLst>
                <p:tags r:id="rId2"/>
              </p:custDataLst>
            </p:nvPr>
          </p:nvSpPr>
          <p:spPr>
            <a:xfrm>
              <a:off x="978568" y="1701800"/>
              <a:ext cx="10540332" cy="733359"/>
            </a:xfrm>
            <a:prstGeom prst="rightArrow">
              <a:avLst>
                <a:gd name="adj1" fmla="val 71521"/>
                <a:gd name="adj2" fmla="val 50000"/>
              </a:avLst>
            </a:prstGeom>
            <a:gradFill flip="none" rotWithShape="0">
              <a:gsLst>
                <a:gs pos="2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8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21" name="直接连接符 320" descr="5ac2bd3d-a497-4ced-8f71-a9f306f83609"/>
            <p:cNvCxnSpPr>
              <a:endCxn id="324" idx="0"/>
            </p:cNvCxnSpPr>
            <p:nvPr>
              <p:custDataLst>
                <p:tags r:id="rId3"/>
              </p:custDataLst>
            </p:nvPr>
          </p:nvCxnSpPr>
          <p:spPr>
            <a:xfrm>
              <a:off x="1100867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ShapeOval 338" descr="cdb57bb6-f99d-4d6c-ba99-94dc3cc11d8f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031342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0" name="矩形 249" descr="57c50817-0604-4741-b147-43fefab74f82"/>
            <p:cNvSpPr/>
            <p:nvPr>
              <p:custDataLst>
                <p:tags r:id="rId5"/>
              </p:custDataLst>
            </p:nvPr>
          </p:nvSpPr>
          <p:spPr>
            <a:xfrm>
              <a:off x="660400" y="6130242"/>
              <a:ext cx="10858500" cy="101780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 fontScale="85000" lnSpcReduction="20000"/>
            </a:bodyPr>
            <a:lstStyle/>
            <a:p>
              <a:pPr algn="ctr"/>
              <a:endParaRPr lang="zh-CN" altLang="en-US" sz="9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24" name="ShapeOval 324" descr="73df39f4-238d-42c7-b494-326ad255c8da"/>
            <p:cNvSpPr/>
            <p:nvPr>
              <p:custDataLst>
                <p:tags r:id="rId6"/>
              </p:custDataLst>
            </p:nvPr>
          </p:nvSpPr>
          <p:spPr>
            <a:xfrm>
              <a:off x="966089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25" name="ShapeOval 325" descr="4443e03a-9f64-4135-9eea-072fd54613ef"/>
            <p:cNvSpPr/>
            <p:nvPr>
              <p:custDataLst>
                <p:tags r:id="rId7"/>
              </p:custDataLst>
            </p:nvPr>
          </p:nvSpPr>
          <p:spPr>
            <a:xfrm>
              <a:off x="1041689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3" name="ShapeOval 303" descr="0f313f72-b51f-4373-b83c-52cfe4b01b5e"/>
            <p:cNvSpPr/>
            <p:nvPr>
              <p:custDataLst>
                <p:tags r:id="rId8"/>
              </p:custDataLst>
            </p:nvPr>
          </p:nvSpPr>
          <p:spPr>
            <a:xfrm>
              <a:off x="4570001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4" name="ShapeOval 304" descr="e8346c31-e1d1-4867-abf1-dff2d0a8905e"/>
            <p:cNvSpPr/>
            <p:nvPr>
              <p:custDataLst>
                <p:tags r:id="rId9"/>
              </p:custDataLst>
            </p:nvPr>
          </p:nvSpPr>
          <p:spPr>
            <a:xfrm>
              <a:off x="4645601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2" name="ShapeOval 282" descr="b7aa21e2-6f93-4bc6-a57d-df0b57ce69a2"/>
            <p:cNvSpPr/>
            <p:nvPr>
              <p:custDataLst>
                <p:tags r:id="rId10"/>
              </p:custDataLst>
            </p:nvPr>
          </p:nvSpPr>
          <p:spPr>
            <a:xfrm>
              <a:off x="8173913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3" name="ShapeOval 283" descr="b52dc03d-fb63-48e0-96c9-21c42695b1ab"/>
            <p:cNvSpPr/>
            <p:nvPr>
              <p:custDataLst>
                <p:tags r:id="rId11"/>
              </p:custDataLst>
            </p:nvPr>
          </p:nvSpPr>
          <p:spPr>
            <a:xfrm>
              <a:off x="8249513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00" name="直接连接符 299" descr="c98fb004-2ce2-4660-a102-a38af81afce9"/>
            <p:cNvCxnSpPr>
              <a:endCxn id="303" idx="0"/>
            </p:cNvCxnSpPr>
            <p:nvPr>
              <p:custDataLst>
                <p:tags r:id="rId12"/>
              </p:custDataLst>
            </p:nvPr>
          </p:nvCxnSpPr>
          <p:spPr>
            <a:xfrm>
              <a:off x="4704779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ShapeOval 5" descr="917ca619-23fd-434f-9ace-ccaa778cb100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4639227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279" name="直接连接符 278" descr="14802a38-e85a-4593-8264-5ed2f5fefce5"/>
            <p:cNvCxnSpPr>
              <a:endCxn id="282" idx="0"/>
            </p:cNvCxnSpPr>
            <p:nvPr>
              <p:custDataLst>
                <p:tags r:id="rId14"/>
              </p:custDataLst>
            </p:nvPr>
          </p:nvCxnSpPr>
          <p:spPr>
            <a:xfrm>
              <a:off x="8295868" y="2248747"/>
              <a:ext cx="25645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hapeOval 7" descr="3a4b586d-db1d-4a8e-8799-064d9de54cbe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8244331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Title" descr="d6eab334-f632-4ae9-9ff5-84df7c1b64da"/>
            <p:cNvSpPr txBox="1"/>
            <p:nvPr/>
          </p:nvSpPr>
          <p:spPr>
            <a:xfrm>
              <a:off x="660400" y="1130300"/>
              <a:ext cx="1085850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2400" b="1" dirty="0">
                  <a:cs typeface="+mn-ea"/>
                  <a:sym typeface="+mn-ea"/>
                </a:rPr>
                <a:t>工作成果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lang="zh-CN" altLang="en-US" sz="2400" b="1" dirty="0">
                  <a:cs typeface="+mn-ea"/>
                  <a:sym typeface="+mn-ea"/>
                </a:rPr>
                <a:t>——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lang="zh-CN" altLang="en-US" sz="2400" b="1" dirty="0">
                  <a:cs typeface="+mn-ea"/>
                  <a:sym typeface="+mn-ea"/>
                </a:rPr>
                <a:t>定制化Excel功能开发</a:t>
              </a:r>
              <a:endParaRPr lang="en-US" dirty="0"/>
            </a:p>
          </p:txBody>
        </p:sp>
        <p:grpSp>
          <p:nvGrpSpPr>
            <p:cNvPr id="4" name="组合 3" descr="9ea1ab77-4f28-4741-b9e5-3f801e2b8321"/>
            <p:cNvGrpSpPr/>
            <p:nvPr/>
          </p:nvGrpSpPr>
          <p:grpSpPr>
            <a:xfrm>
              <a:off x="789689" y="1744478"/>
              <a:ext cx="3515995" cy="4288790"/>
              <a:chOff x="789689" y="1744478"/>
              <a:chExt cx="3515995" cy="4288790"/>
            </a:xfrm>
          </p:grpSpPr>
          <p:sp>
            <p:nvSpPr>
              <p:cNvPr id="339" name="Text1" descr="f36d5b82-8b0d-4741-9115-081a0bc003fb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368174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 lnSpcReduction="10000"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FF0000"/>
                    </a:solidFill>
                    <a:cs typeface="+mn-ea"/>
                    <a:sym typeface="+mn-lt"/>
                  </a:rPr>
                  <a:t>大量</a:t>
                </a:r>
                <a:r>
                  <a:rPr lang="zh-CN" altLang="en-US" b="0" dirty="0">
                    <a:cs typeface="+mn-ea"/>
                    <a:sym typeface="+mn-lt"/>
                  </a:rPr>
                  <a:t>Excel文件需按模板拆分、搬运内容，手工处理效率低下，亟需自动化解决方案。</a:t>
                </a: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320" name="Bullet1" descr="38340408-2ae7-4b62-a69f-3295833f36c6"/>
              <p:cNvSpPr/>
              <p:nvPr>
                <p:custDataLst>
                  <p:tags r:id="rId17"/>
                </p:custDataLst>
              </p:nvPr>
            </p:nvSpPr>
            <p:spPr>
              <a:xfrm>
                <a:off x="1371938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背景分析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2" name="Number1" descr="328ddf85-74f0-4faf-82c3-1a986a33154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89689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68b69711-db51-4f58-953e-5b54e229de1b"/>
            <p:cNvGrpSpPr/>
            <p:nvPr/>
          </p:nvGrpSpPr>
          <p:grpSpPr>
            <a:xfrm>
              <a:off x="4393601" y="1744478"/>
              <a:ext cx="3520440" cy="4288790"/>
              <a:chOff x="4393601" y="1744478"/>
              <a:chExt cx="3520440" cy="4288790"/>
            </a:xfrm>
          </p:grpSpPr>
          <p:sp>
            <p:nvSpPr>
              <p:cNvPr id="299" name="Bullet2" descr="6de37ffb-c043-4d8b-98c1-99f69fc02b1a"/>
              <p:cNvSpPr/>
              <p:nvPr>
                <p:custDataLst>
                  <p:tags r:id="rId19"/>
                </p:custDataLst>
              </p:nvPr>
            </p:nvSpPr>
            <p:spPr>
              <a:xfrm>
                <a:off x="4975850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成果展示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1" name="Number2" descr="1ab12b13-9139-4063-b331-ff4fd3a5d9e0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93601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15000">
                    <a:schemeClr val="accent2">
                      <a:lumMod val="60000"/>
                      <a:lumOff val="40000"/>
                    </a:schemeClr>
                  </a:gs>
                  <a:gs pos="77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Text2" descr="7a1aba65-d264-4371-8caf-0e38b64caeaa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976531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成功开发定制化功能，支持图片识别、重命名、路径替换，并能根据动态模板生成Excel文件。</a:t>
                </a:r>
                <a:endParaRPr lang="en-US" b="0" dirty="0"/>
              </a:p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 descr="b13fe2f1-83f0-4e95-94b6-b0f7ba75c148"/>
            <p:cNvGrpSpPr/>
            <p:nvPr/>
          </p:nvGrpSpPr>
          <p:grpSpPr>
            <a:xfrm>
              <a:off x="7997513" y="1744478"/>
              <a:ext cx="3521075" cy="4288790"/>
              <a:chOff x="7997513" y="1744478"/>
              <a:chExt cx="3521075" cy="4288790"/>
            </a:xfrm>
          </p:grpSpPr>
          <p:sp>
            <p:nvSpPr>
              <p:cNvPr id="278" name="Bullet3" descr="e6dcbd4a-6d5a-4f67-915b-83c29a8cd6f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579762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未来展望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0" name="Number3" descr="8dc0ec34-722e-4e9d-b0a5-26e3bcf172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7997513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03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Text3" descr="cb96797f-0f6d-4ab4-ac0b-76b0f4f41dde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8581078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计划将此功能封装为通用</a:t>
                </a:r>
                <a:r>
                  <a:rPr lang="zh-CN" altLang="en-US" dirty="0">
                    <a:sym typeface="+mn-lt"/>
                  </a:rPr>
                  <a:t>skill</a:t>
                </a:r>
                <a:r>
                  <a:rPr lang="zh-CN" altLang="en-US" b="0" dirty="0">
                    <a:cs typeface="+mn-ea"/>
                    <a:sym typeface="+mn-lt"/>
                  </a:rPr>
                  <a:t>，以降低技术开发成本，进一步提升运营效率。</a:t>
                </a: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04460" y="4462145"/>
            <a:ext cx="2510790" cy="12414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59230" y="4527550"/>
            <a:ext cx="2742565" cy="1128395"/>
          </a:xfrm>
          <a:prstGeom prst="rect">
            <a:avLst/>
          </a:prstGeom>
        </p:spPr>
      </p:pic>
      <p:pic>
        <p:nvPicPr>
          <p:cNvPr id="17" name="图片 16" descr="截屏2026-03-13 15.17.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20455" y="4342765"/>
            <a:ext cx="266827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999c85ec-3c23-491c-ac17-cd325cb86998.source.3.zh-Hans.pptx" descr="82e37ae3-3637-4f44-a055-14f39ae7a6ba"/>
          <p:cNvGrpSpPr/>
          <p:nvPr>
            <p:custDataLst>
              <p:tags r:id="rId1"/>
            </p:custDataLst>
          </p:nvPr>
        </p:nvGrpSpPr>
        <p:grpSpPr>
          <a:xfrm>
            <a:off x="660400" y="903605"/>
            <a:ext cx="10858500" cy="5208604"/>
            <a:chOff x="660400" y="1130300"/>
            <a:chExt cx="10858500" cy="5208604"/>
          </a:xfrm>
        </p:grpSpPr>
        <p:sp>
          <p:nvSpPr>
            <p:cNvPr id="251" name="箭头: 右 250" descr="8d37ac1f-8c01-4223-8767-a5b6d7a725be"/>
            <p:cNvSpPr/>
            <p:nvPr>
              <p:custDataLst>
                <p:tags r:id="rId2"/>
              </p:custDataLst>
            </p:nvPr>
          </p:nvSpPr>
          <p:spPr>
            <a:xfrm>
              <a:off x="978568" y="1701800"/>
              <a:ext cx="10540332" cy="733359"/>
            </a:xfrm>
            <a:prstGeom prst="rightArrow">
              <a:avLst>
                <a:gd name="adj1" fmla="val 71521"/>
                <a:gd name="adj2" fmla="val 50000"/>
              </a:avLst>
            </a:prstGeom>
            <a:gradFill flip="none" rotWithShape="0">
              <a:gsLst>
                <a:gs pos="2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8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21" name="直接连接符 320" descr="5ac2bd3d-a497-4ced-8f71-a9f306f83609"/>
            <p:cNvCxnSpPr>
              <a:endCxn id="324" idx="0"/>
            </p:cNvCxnSpPr>
            <p:nvPr>
              <p:custDataLst>
                <p:tags r:id="rId3"/>
              </p:custDataLst>
            </p:nvPr>
          </p:nvCxnSpPr>
          <p:spPr>
            <a:xfrm>
              <a:off x="1100867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ShapeOval 338" descr="cdb57bb6-f99d-4d6c-ba99-94dc3cc11d8f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031342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0" name="矩形 249" descr="57c50817-0604-4741-b147-43fefab74f82"/>
            <p:cNvSpPr/>
            <p:nvPr>
              <p:custDataLst>
                <p:tags r:id="rId5"/>
              </p:custDataLst>
            </p:nvPr>
          </p:nvSpPr>
          <p:spPr>
            <a:xfrm>
              <a:off x="660400" y="6130242"/>
              <a:ext cx="10858500" cy="101780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 fontScale="85000" lnSpcReduction="20000"/>
            </a:bodyPr>
            <a:lstStyle/>
            <a:p>
              <a:pPr algn="ctr"/>
              <a:endParaRPr lang="zh-CN" altLang="en-US" sz="9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24" name="ShapeOval 324" descr="73df39f4-238d-42c7-b494-326ad255c8da"/>
            <p:cNvSpPr/>
            <p:nvPr>
              <p:custDataLst>
                <p:tags r:id="rId6"/>
              </p:custDataLst>
            </p:nvPr>
          </p:nvSpPr>
          <p:spPr>
            <a:xfrm>
              <a:off x="966089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25" name="ShapeOval 325" descr="4443e03a-9f64-4135-9eea-072fd54613ef"/>
            <p:cNvSpPr/>
            <p:nvPr>
              <p:custDataLst>
                <p:tags r:id="rId7"/>
              </p:custDataLst>
            </p:nvPr>
          </p:nvSpPr>
          <p:spPr>
            <a:xfrm>
              <a:off x="1041689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3" name="ShapeOval 303" descr="0f313f72-b51f-4373-b83c-52cfe4b01b5e"/>
            <p:cNvSpPr/>
            <p:nvPr>
              <p:custDataLst>
                <p:tags r:id="rId8"/>
              </p:custDataLst>
            </p:nvPr>
          </p:nvSpPr>
          <p:spPr>
            <a:xfrm>
              <a:off x="4570001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4" name="ShapeOval 304" descr="e8346c31-e1d1-4867-abf1-dff2d0a8905e"/>
            <p:cNvSpPr/>
            <p:nvPr>
              <p:custDataLst>
                <p:tags r:id="rId9"/>
              </p:custDataLst>
            </p:nvPr>
          </p:nvSpPr>
          <p:spPr>
            <a:xfrm>
              <a:off x="4645601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2" name="ShapeOval 282" descr="b7aa21e2-6f93-4bc6-a57d-df0b57ce69a2"/>
            <p:cNvSpPr/>
            <p:nvPr>
              <p:custDataLst>
                <p:tags r:id="rId10"/>
              </p:custDataLst>
            </p:nvPr>
          </p:nvSpPr>
          <p:spPr>
            <a:xfrm>
              <a:off x="8173913" y="6033418"/>
              <a:ext cx="295200" cy="30548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3" name="ShapeOval 283" descr="b52dc03d-fb63-48e0-96c9-21c42695b1ab"/>
            <p:cNvSpPr/>
            <p:nvPr>
              <p:custDataLst>
                <p:tags r:id="rId11"/>
              </p:custDataLst>
            </p:nvPr>
          </p:nvSpPr>
          <p:spPr>
            <a:xfrm>
              <a:off x="8249513" y="6112618"/>
              <a:ext cx="144000" cy="147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300" name="直接连接符 299" descr="c98fb004-2ce2-4660-a102-a38af81afce9"/>
            <p:cNvCxnSpPr>
              <a:endCxn id="303" idx="0"/>
            </p:cNvCxnSpPr>
            <p:nvPr>
              <p:custDataLst>
                <p:tags r:id="rId12"/>
              </p:custDataLst>
            </p:nvPr>
          </p:nvCxnSpPr>
          <p:spPr>
            <a:xfrm>
              <a:off x="4704779" y="2248747"/>
              <a:ext cx="12822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ShapeOval 5" descr="917ca619-23fd-434f-9ace-ccaa778cb100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4639227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cxnSp>
          <p:nvCxnSpPr>
            <p:cNvPr id="279" name="直接连接符 278" descr="14802a38-e85a-4593-8264-5ed2f5fefce5"/>
            <p:cNvCxnSpPr>
              <a:endCxn id="282" idx="0"/>
            </p:cNvCxnSpPr>
            <p:nvPr>
              <p:custDataLst>
                <p:tags r:id="rId14"/>
              </p:custDataLst>
            </p:nvPr>
          </p:nvCxnSpPr>
          <p:spPr>
            <a:xfrm>
              <a:off x="8295868" y="2248747"/>
              <a:ext cx="25645" cy="3784671"/>
            </a:xfrm>
            <a:prstGeom prst="line">
              <a:avLst/>
            </a:prstGeom>
            <a:ln w="63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hapeOval 7" descr="3a4b586d-db1d-4a8e-8799-064d9de54cbe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8244331" y="2916715"/>
              <a:ext cx="139049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Title" descr="d6eab334-f632-4ae9-9ff5-84df7c1b64da"/>
            <p:cNvSpPr txBox="1"/>
            <p:nvPr/>
          </p:nvSpPr>
          <p:spPr>
            <a:xfrm>
              <a:off x="660400" y="1130300"/>
              <a:ext cx="1085850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2400" b="1" dirty="0">
                  <a:cs typeface="+mn-ea"/>
                  <a:sym typeface="+mn-ea"/>
                </a:rPr>
                <a:t>工作成果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lang="zh-CN" altLang="en-US" sz="2400" b="1" dirty="0">
                  <a:cs typeface="+mn-ea"/>
                  <a:sym typeface="+mn-ea"/>
                </a:rPr>
                <a:t>——</a:t>
              </a:r>
              <a:r>
                <a:rPr lang="en-US" altLang="zh-CN" sz="2400" b="1" dirty="0">
                  <a:cs typeface="+mn-ea"/>
                  <a:sym typeface="+mn-ea"/>
                </a:rPr>
                <a:t> </a:t>
              </a:r>
              <a:r>
                <a:rPr kumimoji="1" lang="zh-CN" altLang="en-US" sz="2400" b="1" dirty="0">
                  <a:cs typeface="+mn-ea"/>
                  <a:sym typeface="+mn-ea"/>
                </a:rPr>
                <a:t>企微机器人（OpenClaw）</a:t>
              </a:r>
              <a:endParaRPr lang="en-US" dirty="0"/>
            </a:p>
          </p:txBody>
        </p:sp>
        <p:grpSp>
          <p:nvGrpSpPr>
            <p:cNvPr id="4" name="组合 3" descr="9ea1ab77-4f28-4741-b9e5-3f801e2b8321"/>
            <p:cNvGrpSpPr/>
            <p:nvPr/>
          </p:nvGrpSpPr>
          <p:grpSpPr>
            <a:xfrm>
              <a:off x="789689" y="1744478"/>
              <a:ext cx="3515995" cy="4288790"/>
              <a:chOff x="789689" y="1744478"/>
              <a:chExt cx="3515995" cy="4288790"/>
            </a:xfrm>
          </p:grpSpPr>
          <p:sp>
            <p:nvSpPr>
              <p:cNvPr id="339" name="Text1" descr="f36d5b82-8b0d-4741-9115-081a0bc003fb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368174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 lnSpcReduction="10000"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已成功部署技术部专用的OpenClaw机器人，验证了技术可行性，并积累了部署经验。</a:t>
                </a: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320" name="Bullet1" descr="38340408-2ae7-4b62-a69f-3295833f36c6"/>
              <p:cNvSpPr/>
              <p:nvPr>
                <p:custDataLst>
                  <p:tags r:id="rId17"/>
                </p:custDataLst>
              </p:nvPr>
            </p:nvSpPr>
            <p:spPr>
              <a:xfrm>
                <a:off x="1371938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cs typeface="+mn-ea"/>
                    <a:sym typeface="+mn-lt"/>
                  </a:rPr>
                  <a:t>当前成果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2" name="Number1" descr="328ddf85-74f0-4faf-82c3-1a986a33154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89689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68b69711-db51-4f58-953e-5b54e229de1b"/>
            <p:cNvGrpSpPr/>
            <p:nvPr/>
          </p:nvGrpSpPr>
          <p:grpSpPr>
            <a:xfrm>
              <a:off x="4393601" y="1744478"/>
              <a:ext cx="3520440" cy="4288790"/>
              <a:chOff x="4393601" y="1744478"/>
              <a:chExt cx="3520440" cy="4288790"/>
            </a:xfrm>
          </p:grpSpPr>
          <p:sp>
            <p:nvSpPr>
              <p:cNvPr id="299" name="Bullet2" descr="6de37ffb-c043-4d8b-98c1-99f69fc02b1a"/>
              <p:cNvSpPr/>
              <p:nvPr>
                <p:custDataLst>
                  <p:tags r:id="rId19"/>
                </p:custDataLst>
              </p:nvPr>
            </p:nvSpPr>
            <p:spPr>
              <a:xfrm>
                <a:off x="4975850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cs typeface="+mn-ea"/>
                    <a:sym typeface="+mn-lt"/>
                  </a:rPr>
                  <a:t>面临挑战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1" name="Number2" descr="1ab12b13-9139-4063-b331-ff4fd3a5d9e0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93601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15000">
                    <a:schemeClr val="accent2">
                      <a:lumMod val="60000"/>
                      <a:lumOff val="40000"/>
                    </a:schemeClr>
                  </a:gs>
                  <a:gs pos="77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Text2" descr="7a1aba65-d264-4371-8caf-0e38b64caeaa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976531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因权限控制等问题，面临</a:t>
                </a:r>
                <a:r>
                  <a:rPr lang="en-US" altLang="zh-CN" b="0" dirty="0">
                    <a:cs typeface="+mn-ea"/>
                    <a:sym typeface="+mn-lt"/>
                  </a:rPr>
                  <a:t> Agents </a:t>
                </a:r>
                <a:r>
                  <a:rPr lang="zh-CN" altLang="en-US" b="0" dirty="0">
                    <a:cs typeface="+mn-ea"/>
                    <a:sym typeface="+mn-lt"/>
                  </a:rPr>
                  <a:t>的目录处于公开状态且可以跨工作目录进行</a:t>
                </a:r>
                <a:r>
                  <a:rPr lang="zh-CN" altLang="en-US" b="0" dirty="0">
                    <a:cs typeface="+mn-ea"/>
                    <a:sym typeface="+mn-lt"/>
                  </a:rPr>
                  <a:t>删除，功能和权限体系有待优化后方可全面上线。</a:t>
                </a:r>
                <a:endParaRPr lang="en-US" b="0" dirty="0"/>
              </a:p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 algn="l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 descr="b13fe2f1-83f0-4e95-94b6-b0f7ba75c148"/>
            <p:cNvGrpSpPr/>
            <p:nvPr/>
          </p:nvGrpSpPr>
          <p:grpSpPr>
            <a:xfrm>
              <a:off x="7997513" y="1744478"/>
              <a:ext cx="3521075" cy="4288790"/>
              <a:chOff x="7997513" y="1744478"/>
              <a:chExt cx="3521075" cy="4288790"/>
            </a:xfrm>
          </p:grpSpPr>
          <p:sp>
            <p:nvSpPr>
              <p:cNvPr id="278" name="Bullet3" descr="e6dcbd4a-6d5a-4f67-915b-83c29a8cd6f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579762" y="1815339"/>
                <a:ext cx="2741773" cy="508761"/>
              </a:xfrm>
              <a:prstGeom prst="round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未来展望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0" name="Number3" descr="8dc0ec34-722e-4e9d-b0a5-26e3bcf172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7997513" y="1744478"/>
                <a:ext cx="648000" cy="648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15000">
                    <a:schemeClr val="accent1">
                      <a:lumMod val="60000"/>
                      <a:lumOff val="40000"/>
                    </a:schemeClr>
                  </a:gs>
                  <a:gs pos="77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03</a:t>
                </a:r>
                <a:endParaRPr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Text3" descr="cb96797f-0f6d-4ab4-ac0b-76b0f4f41dde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8581078" y="2658243"/>
                <a:ext cx="2937510" cy="3375025"/>
              </a:xfrm>
              <a:prstGeom prst="roundRect">
                <a:avLst>
                  <a:gd name="adj" fmla="val 4236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18000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cs typeface="+mn-ea"/>
                    <a:sym typeface="+mn-lt"/>
                  </a:rPr>
                  <a:t>目标是构建一个通用的</a:t>
                </a:r>
                <a:r>
                  <a:rPr lang="zh-CN" altLang="en-US" dirty="0">
                    <a:cs typeface="+mn-ea"/>
                    <a:sym typeface="+mn-lt"/>
                  </a:rPr>
                  <a:t>skills仓库</a:t>
                </a:r>
                <a:r>
                  <a:rPr lang="zh-CN" altLang="en-US" b="0" dirty="0">
                    <a:cs typeface="+mn-ea"/>
                    <a:sym typeface="+mn-lt"/>
                  </a:rPr>
                  <a:t>，为多部门提供服务，并实现精细化的权限控制。</a:t>
                </a: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171450" indent="-1714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endParaRPr lang="zh-CN" altLang="en-US" b="0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7" name="图片 16" descr="截屏2026-03-13 15.17.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51570" y="4728845"/>
            <a:ext cx="1227455" cy="6489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42415" y="4232275"/>
            <a:ext cx="2558415" cy="15201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7"/>
          <a:srcRect l="8379" t="7158" r="8294" b="4072"/>
          <a:stretch>
            <a:fillRect/>
          </a:stretch>
        </p:blipFill>
        <p:spPr>
          <a:xfrm>
            <a:off x="10125075" y="4382135"/>
            <a:ext cx="1243965" cy="1370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285c8d56-8460-4c77-a852-ee22b3392865.source.4.zh-Hans.pptx" descr="4d03f20d-0ae2-4ea1-ba9e-df6017528e41"/>
          <p:cNvGrpSpPr/>
          <p:nvPr>
            <p:custDataLst>
              <p:tags r:id="rId1"/>
            </p:custDataLst>
          </p:nvPr>
        </p:nvGrpSpPr>
        <p:grpSpPr>
          <a:xfrm>
            <a:off x="783508" y="1758509"/>
            <a:ext cx="10624986" cy="3725623"/>
            <a:chOff x="783508" y="2123634"/>
            <a:chExt cx="10624986" cy="3725623"/>
          </a:xfrm>
        </p:grpSpPr>
        <p:grpSp>
          <p:nvGrpSpPr>
            <p:cNvPr id="73" name="组合 72" descr="9d8dee71-fdc2-4313-ac5b-cc689354bb3b"/>
            <p:cNvGrpSpPr/>
            <p:nvPr/>
          </p:nvGrpSpPr>
          <p:grpSpPr>
            <a:xfrm>
              <a:off x="783508" y="2123635"/>
              <a:ext cx="2562157" cy="3725622"/>
              <a:chOff x="783508" y="2123635"/>
              <a:chExt cx="2562157" cy="3725622"/>
            </a:xfrm>
          </p:grpSpPr>
          <p:sp>
            <p:nvSpPr>
              <p:cNvPr id="44" name="IconBackground1" descr="811ce516-3de8-4196-a4b0-3cd85597b6fa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935367" y="2252253"/>
                <a:ext cx="2410298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Number1" descr="cbf8c920-2c36-4a6f-a550-610a30ad3dc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059563" y="2402307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/>
                  <a:t>01</a:t>
                </a:r>
                <a:endParaRPr lang="zh-CN" altLang="en-US" sz="3200" b="1" i="1" dirty="0"/>
              </a:p>
            </p:txBody>
          </p:sp>
          <p:sp>
            <p:nvSpPr>
              <p:cNvPr id="46" name="Bullet1" descr="88052541-f427-4748-be60-1f4c28acfbfa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99483" y="2252253"/>
                <a:ext cx="1528020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zh-CN" altLang="en-US" b="1" dirty="0"/>
                  <a:t>加减法思维</a:t>
                </a:r>
                <a:endParaRPr lang="en-US" dirty="0"/>
              </a:p>
            </p:txBody>
          </p:sp>
          <p:sp>
            <p:nvSpPr>
              <p:cNvPr id="47" name="ComponentBackground1" descr="d172dcf3-e5c7-4fcb-a8d1-c5cded1875ca"/>
              <p:cNvSpPr/>
              <p:nvPr>
                <p:custDataLst>
                  <p:tags r:id="rId5"/>
                </p:custDataLst>
              </p:nvPr>
            </p:nvSpPr>
            <p:spPr>
              <a:xfrm>
                <a:off x="935367" y="3339424"/>
                <a:ext cx="2410298" cy="2509833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Text1" descr="2216c0a2-3db9-4249-b308-65a3c2abfaba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59563" y="3480084"/>
                <a:ext cx="2167939" cy="224761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dirty="0"/>
                  <a:t>面对不确定性数据处理（如签名提取），学会采用分阶段、分步骤的“先加后减再加”等策略，使逻辑更清晰。</a:t>
                </a:r>
                <a:endParaRPr lang="zh-CN" altLang="en-US" dirty="0"/>
              </a:p>
            </p:txBody>
          </p:sp>
          <p:sp>
            <p:nvSpPr>
              <p:cNvPr id="49" name="Icon1" descr="e0fb0d49-1d97-4e27-ae34-310c87cfd851"/>
              <p:cNvSpPr/>
              <p:nvPr>
                <p:custDataLst>
                  <p:tags r:id="rId7"/>
                </p:custDataLst>
              </p:nvPr>
            </p:nvSpPr>
            <p:spPr>
              <a:xfrm>
                <a:off x="783508" y="2123635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4" name="组合 73" descr="4e59ef3b-f33d-446f-9fdf-b1e919408acc"/>
            <p:cNvGrpSpPr/>
            <p:nvPr/>
          </p:nvGrpSpPr>
          <p:grpSpPr>
            <a:xfrm>
              <a:off x="3470687" y="2123635"/>
              <a:ext cx="2563449" cy="3725622"/>
              <a:chOff x="3470687" y="2123635"/>
              <a:chExt cx="2563449" cy="3725622"/>
            </a:xfrm>
          </p:grpSpPr>
          <p:sp>
            <p:nvSpPr>
              <p:cNvPr id="38" name="IconBackground2" descr="28a34fb5-8995-4337-9503-d1f9dabd1198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3623837" y="2252253"/>
                <a:ext cx="2410298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Number2" descr="48ded6b5-f246-4d1c-a37e-5203ac4c767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735714" y="2402307"/>
                <a:ext cx="635000" cy="5835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/>
                  <a:t>02</a:t>
                </a:r>
                <a:endParaRPr lang="zh-CN" altLang="en-US" sz="3200" b="1" i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Bullet2" descr="50148901-f1bc-416d-9245-b0ea8e9e767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429650" y="2252253"/>
                <a:ext cx="1528020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zh-CN" altLang="en-US" b="1" dirty="0"/>
                  <a:t>多视角思考</a:t>
                </a:r>
                <a:endParaRPr lang="en-US" dirty="0"/>
              </a:p>
            </p:txBody>
          </p:sp>
          <p:sp>
            <p:nvSpPr>
              <p:cNvPr id="41" name="ComponentBackground2" descr="7d4e57ce-33f2-433c-83d8-0e6af56fde07"/>
              <p:cNvSpPr/>
              <p:nvPr>
                <p:custDataLst>
                  <p:tags r:id="rId11"/>
                </p:custDataLst>
              </p:nvPr>
            </p:nvSpPr>
            <p:spPr>
              <a:xfrm>
                <a:off x="3623838" y="3339424"/>
                <a:ext cx="2410298" cy="2509833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Text2" descr="9e80205c-c97f-4689-b70d-59dcd3c4665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748032" y="3468746"/>
                <a:ext cx="2167939" cy="224761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dirty="0"/>
                  <a:t>综合业务、产品、技术三个角度看待问题，设计方案时考虑更全面，提升了方案的可行性。</a:t>
                </a:r>
                <a:endParaRPr lang="zh-CN" altLang="en-US" dirty="0"/>
              </a:p>
            </p:txBody>
          </p:sp>
          <p:sp>
            <p:nvSpPr>
              <p:cNvPr id="43" name="Icon2" descr="bc235f19-0f00-4a34-a2ff-65fd1715149e"/>
              <p:cNvSpPr/>
              <p:nvPr>
                <p:custDataLst>
                  <p:tags r:id="rId13"/>
                </p:custDataLst>
              </p:nvPr>
            </p:nvSpPr>
            <p:spPr>
              <a:xfrm>
                <a:off x="3470687" y="2123635"/>
                <a:ext cx="306300" cy="3063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5" name="组合 74" descr="125f2927-40ab-410e-b2e8-fe453d7ae5b1"/>
            <p:cNvGrpSpPr/>
            <p:nvPr/>
          </p:nvGrpSpPr>
          <p:grpSpPr>
            <a:xfrm>
              <a:off x="6159158" y="2123634"/>
              <a:ext cx="2562157" cy="3725622"/>
              <a:chOff x="6159158" y="2123634"/>
              <a:chExt cx="2562157" cy="3725622"/>
            </a:xfrm>
          </p:grpSpPr>
          <p:sp>
            <p:nvSpPr>
              <p:cNvPr id="32" name="IconBackground3" descr="73c85ea2-4c2a-4f9e-94f6-6a275599129a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6311017" y="2252252"/>
                <a:ext cx="2410298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Number3" descr="001aaa9d-0552-47c4-b6c8-f23caa43b68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435213" y="240230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/>
                  <a:t>03</a:t>
                </a:r>
                <a:endParaRPr lang="zh-CN" altLang="en-US" sz="3200" b="1" i="1" dirty="0"/>
              </a:p>
            </p:txBody>
          </p:sp>
          <p:sp>
            <p:nvSpPr>
              <p:cNvPr id="34" name="Bullet3" descr="48c4cd77-dc0e-4159-8c8f-9ba044049829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074828" y="2252539"/>
                <a:ext cx="1572895" cy="88519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zh-CN" altLang="en-US" b="1" dirty="0"/>
                  <a:t>高内聚低耦合</a:t>
                </a:r>
                <a:endParaRPr lang="en-US" dirty="0"/>
              </a:p>
            </p:txBody>
          </p:sp>
          <p:sp>
            <p:nvSpPr>
              <p:cNvPr id="35" name="ComponentBackground3" descr="31f1339c-a9e0-494f-b06e-fb97e96d3748"/>
              <p:cNvSpPr/>
              <p:nvPr>
                <p:custDataLst>
                  <p:tags r:id="rId17"/>
                </p:custDataLst>
              </p:nvPr>
            </p:nvSpPr>
            <p:spPr>
              <a:xfrm>
                <a:off x="6311017" y="3339423"/>
                <a:ext cx="2410298" cy="2509833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3" descr="69621246-ea04-4c5f-95d8-9d4e1e43db6a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435213" y="3480083"/>
                <a:ext cx="2167939" cy="224761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dirty="0"/>
                  <a:t>在代码和流程设计中，践行模块化原则，使系统更易于维护、定位问题和进行单元测试。</a:t>
                </a:r>
                <a:endParaRPr lang="zh-CN" altLang="en-US" dirty="0"/>
              </a:p>
            </p:txBody>
          </p:sp>
          <p:sp>
            <p:nvSpPr>
              <p:cNvPr id="37" name="Icon3" descr="e200563c-34b8-4f41-8bc6-509a70f8e924"/>
              <p:cNvSpPr/>
              <p:nvPr>
                <p:custDataLst>
                  <p:tags r:id="rId19"/>
                </p:custDataLst>
              </p:nvPr>
            </p:nvSpPr>
            <p:spPr>
              <a:xfrm>
                <a:off x="6159158" y="2123634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6" name="组合 75" descr="81707434-e18d-4819-9e56-fbb4dcd391bf"/>
            <p:cNvGrpSpPr/>
            <p:nvPr/>
          </p:nvGrpSpPr>
          <p:grpSpPr>
            <a:xfrm>
              <a:off x="8846337" y="2123635"/>
              <a:ext cx="2562157" cy="3725622"/>
              <a:chOff x="8846337" y="2123635"/>
              <a:chExt cx="2562157" cy="3725622"/>
            </a:xfrm>
          </p:grpSpPr>
          <p:sp>
            <p:nvSpPr>
              <p:cNvPr id="57" name="IconBackground4" descr="44e4fc64-ab3b-4d4b-8d11-49197ea48798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8998196" y="2252253"/>
                <a:ext cx="2410298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Number4" descr="982f8e98-3f68-407d-81cb-293d49bd730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122392" y="2402307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/>
                  <a:t>04</a:t>
                </a:r>
                <a:endParaRPr lang="zh-CN" altLang="en-US" sz="3200" b="1" i="1" dirty="0"/>
              </a:p>
            </p:txBody>
          </p:sp>
          <p:sp>
            <p:nvSpPr>
              <p:cNvPr id="59" name="Bullet4" descr="583e801b-8a1d-4d9c-8051-5b7f499c047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762312" y="2252253"/>
                <a:ext cx="1528020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zh-CN" altLang="en-US" b="1" dirty="0"/>
                  <a:t>逻辑优于AI</a:t>
                </a:r>
                <a:endParaRPr lang="en-US" dirty="0"/>
              </a:p>
            </p:txBody>
          </p:sp>
          <p:sp>
            <p:nvSpPr>
              <p:cNvPr id="60" name="ComponentBackground4" descr="2f3409a4-ede8-41d0-87ba-0807ecf3e8d5"/>
              <p:cNvSpPr/>
              <p:nvPr>
                <p:custDataLst>
                  <p:tags r:id="rId23"/>
                </p:custDataLst>
              </p:nvPr>
            </p:nvSpPr>
            <p:spPr>
              <a:xfrm>
                <a:off x="8998196" y="3339424"/>
                <a:ext cx="2410298" cy="2509833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Text4" descr="1eac6f62-cffa-447a-b80c-374043b2f5aa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9122392" y="3480084"/>
                <a:ext cx="2167939" cy="2247616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dirty="0"/>
                  <a:t>认识到并非所有问题都需AI解决，部分确定性逻辑用传统代码实现更稳定、高效。</a:t>
                </a:r>
                <a:endParaRPr lang="zh-CN" altLang="en-US" dirty="0"/>
              </a:p>
            </p:txBody>
          </p:sp>
          <p:sp>
            <p:nvSpPr>
              <p:cNvPr id="62" name="Icon4" descr="2e8a2ff5-4368-44ea-a9b6-aceb766cb2a1"/>
              <p:cNvSpPr/>
              <p:nvPr>
                <p:custDataLst>
                  <p:tags r:id="rId25"/>
                </p:custDataLst>
              </p:nvPr>
            </p:nvSpPr>
            <p:spPr>
              <a:xfrm>
                <a:off x="8846337" y="2123635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" name="Icon3" descr="e200563c-34b8-4f41-8bc6-509a70f8e924"/>
          <p:cNvSpPr/>
          <p:nvPr>
            <p:custDataLst>
              <p:tags r:id="rId26"/>
            </p:custDataLst>
          </p:nvPr>
        </p:nvSpPr>
        <p:spPr>
          <a:xfrm>
            <a:off x="3472473" y="1759144"/>
            <a:ext cx="306300" cy="306300"/>
          </a:xfrm>
          <a:prstGeom prst="ellipse">
            <a:avLst/>
          </a:prstGeom>
          <a:solidFill>
            <a:schemeClr val="tx2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7500" lnSpcReduction="20000"/>
          </a:bodyPr>
          <a:lstStyle/>
          <a:p>
            <a:pPr algn="ctr" defTabSz="913765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Title" descr="bab98dde-8d82-4b1b-9435-05a4dcb15c30"/>
          <p:cNvSpPr txBox="1"/>
          <p:nvPr/>
        </p:nvSpPr>
        <p:spPr>
          <a:xfrm>
            <a:off x="660400" y="1130300"/>
            <a:ext cx="10858500" cy="461665"/>
          </a:xfrm>
          <a:prstGeom prst="rect">
            <a:avLst/>
          </a:prstGeom>
          <a:noFill/>
        </p:spPr>
        <p:txBody>
          <a:bodyPr vert="horz" wrap="square" rtlCol="0" anchor="t" anchorCtr="1">
            <a:normAutofit lnSpcReduction="10000"/>
          </a:bodyPr>
          <a:lstStyle/>
          <a:p>
            <a:pPr algn="ctr"/>
            <a:r>
              <a:rPr lang="zh-CN" altLang="en-US" sz="2400" b="1" dirty="0"/>
              <a:t>学习与成长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——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形成多维度的工程化思维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643255"/>
            <a:ext cx="2575560" cy="5679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710" y="582930"/>
            <a:ext cx="4392930" cy="57696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015" y="699770"/>
            <a:ext cx="4218940" cy="5289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4dbd5e3e-9f3a-446d-95d1-f1d693caa659.source.3.zh-Hans.pptx" descr="9efe275d-dc7a-428d-b0ad-8d1a14320c68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74697"/>
            <a:chOff x="660400" y="1130300"/>
            <a:chExt cx="10858500" cy="5074697"/>
          </a:xfrm>
        </p:grpSpPr>
        <p:sp>
          <p:nvSpPr>
            <p:cNvPr id="22" name="椭圆 21" descr="11d32d92-e755-4477-9182-cddb1795ce52"/>
            <p:cNvSpPr/>
            <p:nvPr>
              <p:custDataLst>
                <p:tags r:id="rId2"/>
              </p:custDataLst>
            </p:nvPr>
          </p:nvSpPr>
          <p:spPr>
            <a:xfrm rot="16200000">
              <a:off x="1214151" y="2318644"/>
              <a:ext cx="1971346" cy="1971346"/>
            </a:xfrm>
            <a:prstGeom prst="ellipse">
              <a:avLst/>
            </a:prstGeom>
            <a:solidFill>
              <a:schemeClr val="bg1"/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弧形 22" descr="5746ddd0-13ea-4035-a18c-0916efd4642a"/>
            <p:cNvSpPr/>
            <p:nvPr>
              <p:custDataLst>
                <p:tags r:id="rId3"/>
              </p:custDataLst>
            </p:nvPr>
          </p:nvSpPr>
          <p:spPr>
            <a:xfrm rot="16200000">
              <a:off x="1235740" y="1963044"/>
              <a:ext cx="1971346" cy="1971346"/>
            </a:xfrm>
            <a:prstGeom prst="arc">
              <a:avLst>
                <a:gd name="adj1" fmla="val 10777583"/>
                <a:gd name="adj2" fmla="val 18615126"/>
              </a:avLst>
            </a:prstGeom>
            <a:noFill/>
            <a:ln w="7620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itle" descr="4ec7382b-6d9a-4464-a78d-53478fee5d9b"/>
            <p:cNvSpPr/>
            <p:nvPr/>
          </p:nvSpPr>
          <p:spPr>
            <a:xfrm>
              <a:off x="660400" y="1130300"/>
              <a:ext cx="10858500" cy="830997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>
                <a:buClrTx/>
                <a:buSzPct val="25000"/>
                <a:buFontTx/>
              </a:pPr>
              <a:r>
                <a:rPr lang="zh-CN" altLang="en-US" sz="2400" b="1" dirty="0">
                  <a:sym typeface="+mn-ea"/>
                </a:rPr>
                <a:t>学习与成长 —— </a:t>
              </a:r>
              <a:r>
                <a:rPr lang="zh-CN" altLang="en-US" sz="2400" b="1" dirty="0"/>
                <a:t> 具备独立完成项目的能力</a:t>
              </a:r>
              <a:endParaRPr lang="zh-CN" altLang="en-US" sz="2400" b="1" dirty="0"/>
            </a:p>
          </p:txBody>
        </p:sp>
        <p:sp>
          <p:nvSpPr>
            <p:cNvPr id="15" name="椭圆 14" descr="5b9bf74d-656b-4e5c-9324-0469eefb1ba9"/>
            <p:cNvSpPr/>
            <p:nvPr>
              <p:custDataLst>
                <p:tags r:id="rId4"/>
              </p:custDataLst>
            </p:nvPr>
          </p:nvSpPr>
          <p:spPr>
            <a:xfrm rot="16200000">
              <a:off x="5159215" y="2318644"/>
              <a:ext cx="1971346" cy="1971346"/>
            </a:xfrm>
            <a:prstGeom prst="ellipse">
              <a:avLst/>
            </a:prstGeom>
            <a:solidFill>
              <a:schemeClr val="bg1"/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弧形 15" descr="0334002e-d5ab-4c0b-95f7-3cf8082f5f3a"/>
            <p:cNvSpPr/>
            <p:nvPr>
              <p:custDataLst>
                <p:tags r:id="rId5"/>
              </p:custDataLst>
            </p:nvPr>
          </p:nvSpPr>
          <p:spPr>
            <a:xfrm rot="16200000">
              <a:off x="5159214" y="1962409"/>
              <a:ext cx="1971346" cy="1971346"/>
            </a:xfrm>
            <a:prstGeom prst="arc">
              <a:avLst>
                <a:gd name="adj1" fmla="val 10974695"/>
                <a:gd name="adj2" fmla="val 2895169"/>
              </a:avLst>
            </a:prstGeom>
            <a:noFill/>
            <a:ln w="7620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椭圆 29" descr="f61d84eb-c92b-45cd-a8fb-b09cb4bfc739"/>
            <p:cNvSpPr/>
            <p:nvPr>
              <p:custDataLst>
                <p:tags r:id="rId6"/>
              </p:custDataLst>
            </p:nvPr>
          </p:nvSpPr>
          <p:spPr>
            <a:xfrm rot="16200000">
              <a:off x="9083222" y="2318644"/>
              <a:ext cx="1971346" cy="1971346"/>
            </a:xfrm>
            <a:prstGeom prst="ellipse">
              <a:avLst/>
            </a:prstGeom>
            <a:solidFill>
              <a:schemeClr val="bg1"/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1" name="弧形 30" descr="cfa8fd2c-815c-4f98-8767-905f3ce76bee"/>
            <p:cNvSpPr/>
            <p:nvPr>
              <p:custDataLst>
                <p:tags r:id="rId7"/>
              </p:custDataLst>
            </p:nvPr>
          </p:nvSpPr>
          <p:spPr>
            <a:xfrm rot="16200000">
              <a:off x="9033133" y="1961774"/>
              <a:ext cx="1971346" cy="1971346"/>
            </a:xfrm>
            <a:prstGeom prst="arc">
              <a:avLst>
                <a:gd name="adj1" fmla="val 9335924"/>
                <a:gd name="adj2" fmla="val 9243497"/>
              </a:avLst>
            </a:prstGeom>
            <a:noFill/>
            <a:ln w="7620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6" name="组合 5" descr="34fc372f-6261-48eb-a52f-8cf20ccb8434"/>
            <p:cNvGrpSpPr/>
            <p:nvPr/>
          </p:nvGrpSpPr>
          <p:grpSpPr>
            <a:xfrm>
              <a:off x="1235740" y="2756947"/>
              <a:ext cx="2110740" cy="3448050"/>
              <a:chOff x="1235740" y="2756947"/>
              <a:chExt cx="2110740" cy="3448050"/>
            </a:xfrm>
          </p:grpSpPr>
          <p:sp>
            <p:nvSpPr>
              <p:cNvPr id="21" name="Text1" descr="e0b0205b-8e4d-4b31-a521-4a047ad6afc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35740" y="4289837"/>
                <a:ext cx="2110740" cy="1915160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0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800" dirty="0"/>
                  <a:t>从依赖AI辅助编程，逐步成长为能独立编写较为复杂、较高质量代码的开发者。</a:t>
                </a:r>
                <a:endParaRPr lang="zh-CN" altLang="en-US" sz="1800" dirty="0"/>
              </a:p>
            </p:txBody>
          </p:sp>
          <p:sp>
            <p:nvSpPr>
              <p:cNvPr id="4" name="Number1" descr="a1e00c82-085b-4061-b799-69aa1b5ec6d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443221" y="2756947"/>
                <a:ext cx="1556385" cy="383540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pPr algn="l"/>
                <a:r>
                  <a:rPr lang="zh-CN" altLang="en-US" b="1" dirty="0">
                    <a:sym typeface="+mn-ea"/>
                  </a:rPr>
                  <a:t>编程能力进阶</a:t>
                </a:r>
                <a:endParaRPr lang="zh-CN" altLang="en-US" dirty="0"/>
              </a:p>
            </p:txBody>
          </p:sp>
        </p:grpSp>
        <p:grpSp>
          <p:nvGrpSpPr>
            <p:cNvPr id="7" name="组合 6" descr="f58cb093-17da-468c-8f7a-3bf4e2ecc6ec"/>
            <p:cNvGrpSpPr/>
            <p:nvPr/>
          </p:nvGrpSpPr>
          <p:grpSpPr>
            <a:xfrm>
              <a:off x="5159214" y="2756312"/>
              <a:ext cx="2110740" cy="3146425"/>
              <a:chOff x="5159214" y="2756312"/>
              <a:chExt cx="2110740" cy="3146425"/>
            </a:xfrm>
          </p:grpSpPr>
          <p:sp>
            <p:nvSpPr>
              <p:cNvPr id="18" name="Text2" descr="8bc6a119-6d7d-44ec-9c6f-c63eee23434a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159214" y="4289837"/>
                <a:ext cx="2110740" cy="1612900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000"/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800" dirty="0"/>
                  <a:t>熟练掌握Docker部署、日志排查、以及对开源项目进行二次修改与优化。</a:t>
                </a:r>
                <a:endParaRPr lang="zh-CN" altLang="en-US" sz="1800" dirty="0"/>
              </a:p>
            </p:txBody>
          </p:sp>
          <p:sp>
            <p:nvSpPr>
              <p:cNvPr id="5" name="Number2" descr="6a76aaf7-adbd-408d-8769-2821feaddd7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251442" y="2756312"/>
                <a:ext cx="1786890" cy="383540"/>
              </a:xfrm>
              <a:prstGeom prst="rect">
                <a:avLst/>
              </a:prstGeom>
              <a:noFill/>
            </p:spPr>
            <p:txBody>
              <a:bodyPr wrap="none" rtlCol="0">
                <a:normAutofit lnSpcReduction="10000"/>
              </a:bodyPr>
              <a:lstStyle/>
              <a:p>
                <a:pPr algn="ctr"/>
                <a:r>
                  <a:rPr lang="zh-CN" altLang="en-US" b="1" dirty="0">
                    <a:sym typeface="+mn-ea"/>
                  </a:rPr>
                  <a:t>掌握部署运维</a:t>
                </a:r>
                <a:endParaRPr lang="zh-CN" altLang="en-US" b="1" dirty="0"/>
              </a:p>
            </p:txBody>
          </p:sp>
        </p:grpSp>
        <p:grpSp>
          <p:nvGrpSpPr>
            <p:cNvPr id="8" name="组合 7" descr="1e22b40c-08f1-48af-90fc-03405d577d84"/>
            <p:cNvGrpSpPr/>
            <p:nvPr/>
          </p:nvGrpSpPr>
          <p:grpSpPr>
            <a:xfrm>
              <a:off x="8963436" y="2638837"/>
              <a:ext cx="2156383" cy="3542665"/>
              <a:chOff x="8963436" y="2638837"/>
              <a:chExt cx="2156383" cy="3542665"/>
            </a:xfrm>
          </p:grpSpPr>
          <p:sp>
            <p:nvSpPr>
              <p:cNvPr id="33" name="Text3" descr="628a8a1c-45f5-4a88-a499-a2420fbb03ae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009079" y="4209827"/>
                <a:ext cx="2110740" cy="1971675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0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800" dirty="0"/>
                  <a:t>导师协助进行</a:t>
                </a:r>
                <a:r>
                  <a:rPr lang="zh-CN" altLang="en-US" sz="1800" dirty="0">
                    <a:sym typeface="+mn-ea"/>
                  </a:rPr>
                  <a:t>需求分析，</a:t>
                </a:r>
                <a:r>
                  <a:rPr lang="zh-CN" altLang="en-US" sz="1800" dirty="0"/>
                  <a:t>能够完成从技术开发到最终上线的全流程工作，工程能力得到全面锻炼。</a:t>
                </a:r>
                <a:endParaRPr lang="zh-CN" altLang="en-US" sz="1800" dirty="0"/>
              </a:p>
            </p:txBody>
          </p:sp>
          <p:sp>
            <p:nvSpPr>
              <p:cNvPr id="9" name="Number3" descr="8751fdf9-26c0-4d56-8e74-57053913026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963436" y="2638837"/>
                <a:ext cx="2110740" cy="617220"/>
              </a:xfrm>
              <a:prstGeom prst="rect">
                <a:avLst/>
              </a:prstGeom>
              <a:noFill/>
            </p:spPr>
            <p:txBody>
              <a:bodyPr wrap="none" rtlCol="0">
                <a:normAutofit lnSpcReduction="10000"/>
              </a:bodyPr>
              <a:lstStyle/>
              <a:p>
                <a:pPr indent="0" algn="ctr" fontAlgn="auto">
                  <a:lnSpc>
                    <a:spcPct val="100000"/>
                  </a:lnSpc>
                </a:pPr>
                <a:r>
                  <a:rPr lang="zh-CN" altLang="en-US" b="1" dirty="0">
                    <a:sym typeface="+mn-ea"/>
                  </a:rPr>
                  <a:t>半独立</a:t>
                </a:r>
                <a:endParaRPr lang="zh-CN" altLang="en-US" b="1" dirty="0">
                  <a:sym typeface="+mn-ea"/>
                </a:endParaRPr>
              </a:p>
              <a:p>
                <a:pPr indent="0" algn="ctr" fontAlgn="auto">
                  <a:lnSpc>
                    <a:spcPct val="100000"/>
                  </a:lnSpc>
                </a:pPr>
                <a:r>
                  <a:rPr lang="zh-CN" altLang="en-US" b="1" dirty="0">
                    <a:sym typeface="+mn-ea"/>
                  </a:rPr>
                  <a:t>交付全流程</a:t>
                </a:r>
                <a:endParaRPr lang="zh-CN" altLang="en-US" b="1" dirty="0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b9564cb3-66fd-41b1-8d24-884899572872.source.3.zh-Hans.pptx" descr="bb6ed689-7e2a-4ef0-85f4-01afc5a0f3fc"/>
          <p:cNvGrpSpPr/>
          <p:nvPr/>
        </p:nvGrpSpPr>
        <p:grpSpPr>
          <a:xfrm>
            <a:off x="660400" y="936624"/>
            <a:ext cx="10858500" cy="5100755"/>
            <a:chOff x="660400" y="936624"/>
            <a:chExt cx="10858500" cy="5100755"/>
          </a:xfrm>
        </p:grpSpPr>
        <p:sp>
          <p:nvSpPr>
            <p:cNvPr id="11" name="Title" descr="794bdafd-bec6-4c00-985b-d29ef3a5ec6e"/>
            <p:cNvSpPr txBox="1"/>
            <p:nvPr/>
          </p:nvSpPr>
          <p:spPr>
            <a:xfrm>
              <a:off x="660400" y="936624"/>
              <a:ext cx="10858500" cy="123995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2400" b="1" dirty="0">
                  <a:cs typeface="+mn-ea"/>
                  <a:sym typeface="+mn-ea"/>
                </a:rPr>
                <a:t>短期目标（1个月）</a:t>
              </a:r>
              <a:endParaRPr lang="zh-CN" altLang="en-US" sz="2400" b="1" dirty="0">
                <a:cs typeface="+mn-ea"/>
              </a:endParaRPr>
            </a:p>
            <a:p>
              <a:pPr algn="ctr"/>
              <a:r>
                <a:rPr lang="zh-CN" altLang="en-US" sz="2000" dirty="0">
                  <a:cs typeface="+mn-ea"/>
                  <a:sym typeface="+mn-lt"/>
                </a:rPr>
                <a:t>优化现有架构，提升应用性能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 descr="7ca6c48b-1086-4a35-a2ee-46a5bc3b7bc2"/>
            <p:cNvGrpSpPr/>
            <p:nvPr/>
          </p:nvGrpSpPr>
          <p:grpSpPr>
            <a:xfrm>
              <a:off x="980547" y="1909879"/>
              <a:ext cx="2912110" cy="4127500"/>
              <a:chOff x="980547" y="1909879"/>
              <a:chExt cx="2912110" cy="4127500"/>
            </a:xfrm>
          </p:grpSpPr>
          <p:sp>
            <p:nvSpPr>
              <p:cNvPr id="44" name="ComponentBackground1" descr="55c55a5b-c2fb-4f1a-a3f2-b7351582ce55"/>
              <p:cNvSpPr/>
              <p:nvPr/>
            </p:nvSpPr>
            <p:spPr>
              <a:xfrm>
                <a:off x="980547" y="1909879"/>
                <a:ext cx="2912110" cy="4127500"/>
              </a:xfrm>
              <a:prstGeom prst="rect">
                <a:avLst/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buSzPct val="25000"/>
                </a:pPr>
                <a:endParaRPr lang="zh-CN" altLang="en-US" sz="28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Bullet1" descr="9c822c26-69b1-4a15-98d5-7e5aa5c80e5d"/>
              <p:cNvSpPr txBox="1"/>
              <p:nvPr/>
            </p:nvSpPr>
            <p:spPr>
              <a:xfrm>
                <a:off x="1125327" y="2606474"/>
                <a:ext cx="2653030" cy="47307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sz="2400" b="1" dirty="0">
                    <a:cs typeface="+mn-ea"/>
                    <a:sym typeface="+mn-lt"/>
                  </a:rPr>
                  <a:t>掌握Multi-Agents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  <p:sp>
            <p:nvSpPr>
              <p:cNvPr id="47" name="Number1" descr="5e6f83d7-bf7e-461f-964d-1fdebba718bd"/>
              <p:cNvSpPr txBox="1"/>
              <p:nvPr/>
            </p:nvSpPr>
            <p:spPr>
              <a:xfrm>
                <a:off x="1125874" y="1938421"/>
                <a:ext cx="2652792" cy="688835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01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48" name="Text1" descr="e37bf25d-344c-4b8a-b938-bf9b1c5183ca"/>
              <p:cNvSpPr txBox="1"/>
              <p:nvPr/>
            </p:nvSpPr>
            <p:spPr>
              <a:xfrm>
                <a:off x="1125874" y="3079904"/>
                <a:ext cx="2652792" cy="1393035"/>
              </a:xfrm>
              <a:prstGeom prst="rect">
                <a:avLst/>
              </a:prstGeom>
              <a:noFill/>
            </p:spPr>
            <p:txBody>
              <a:bodyPr wrap="square" anchor="t" anchorCtr="1"/>
              <a:lstStyle/>
              <a:p>
                <a:pPr algn="l"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学习multi-agents架构，使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agent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自定义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subagents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，用于复现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傅盛“三万”OpenClaw应用。</a:t>
                </a:r>
                <a:endParaRPr kumimoji="0" lang="zh-CN" altLang="en-US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 descr="60904d80-556b-4c32-b6ed-6079f3eb525b"/>
            <p:cNvGrpSpPr/>
            <p:nvPr/>
          </p:nvGrpSpPr>
          <p:grpSpPr>
            <a:xfrm>
              <a:off x="4633484" y="1909846"/>
              <a:ext cx="2912110" cy="4127500"/>
              <a:chOff x="4633484" y="1909846"/>
              <a:chExt cx="2912110" cy="4127500"/>
            </a:xfrm>
          </p:grpSpPr>
          <p:sp>
            <p:nvSpPr>
              <p:cNvPr id="39" name="ComponentBackground2" descr="00c2d5b4-4dc8-48be-af4a-7c7ec54d762d"/>
              <p:cNvSpPr/>
              <p:nvPr/>
            </p:nvSpPr>
            <p:spPr>
              <a:xfrm>
                <a:off x="4633484" y="1909846"/>
                <a:ext cx="2912110" cy="41275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Bullet2" descr="3b6e076c-b5e5-4a83-875b-825b1513d29c"/>
              <p:cNvSpPr txBox="1"/>
              <p:nvPr/>
            </p:nvSpPr>
            <p:spPr>
              <a:xfrm>
                <a:off x="4763024" y="2520749"/>
                <a:ext cx="2653030" cy="545465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重构Dify逻辑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Number2" descr="d6483535-425b-4979-a5dc-192fb914326d"/>
              <p:cNvSpPr txBox="1"/>
              <p:nvPr/>
            </p:nvSpPr>
            <p:spPr>
              <a:xfrm>
                <a:off x="4763254" y="1938421"/>
                <a:ext cx="2652792" cy="688835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Text2" descr="cfbb0fcc-1870-4163-9d91-391847be0a1b"/>
              <p:cNvSpPr txBox="1"/>
              <p:nvPr/>
            </p:nvSpPr>
            <p:spPr>
              <a:xfrm>
                <a:off x="4763024" y="3131586"/>
                <a:ext cx="2653030" cy="1699260"/>
              </a:xfrm>
              <a:prstGeom prst="rect">
                <a:avLst/>
              </a:prstGeom>
              <a:noFill/>
            </p:spPr>
            <p:txBody>
              <a:bodyPr wrap="square" anchor="t" anchorCtr="1">
                <a:normAutofit lnSpcReduction="10000"/>
              </a:bodyPr>
              <a:lstStyle/>
              <a:p>
                <a:pPr algn="l"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尝试使用LangChain重构Dify的工作流逻辑，以突破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dify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文件上传的限制。同时更换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CV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能力更强的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 VLM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。</a:t>
                </a:r>
                <a:endParaRPr kumimoji="0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5e39b3ac-b73f-4cd2-acba-c9a0375cd18e"/>
            <p:cNvGrpSpPr/>
            <p:nvPr/>
          </p:nvGrpSpPr>
          <p:grpSpPr>
            <a:xfrm>
              <a:off x="8287056" y="1938421"/>
              <a:ext cx="2912110" cy="4098925"/>
              <a:chOff x="8287056" y="1938421"/>
              <a:chExt cx="2912110" cy="4098925"/>
            </a:xfrm>
          </p:grpSpPr>
          <p:sp>
            <p:nvSpPr>
              <p:cNvPr id="24" name="ComponentBackground3" descr="48e2e979-104b-4e5d-a229-67e0f1b24f56"/>
              <p:cNvSpPr/>
              <p:nvPr/>
            </p:nvSpPr>
            <p:spPr>
              <a:xfrm>
                <a:off x="8287056" y="1938421"/>
                <a:ext cx="2912110" cy="4098925"/>
              </a:xfrm>
              <a:prstGeom prst="rect">
                <a:avLst/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buSzPct val="25000"/>
                </a:pPr>
                <a:endParaRPr lang="zh-CN" altLang="en-US" sz="28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Bullet3" descr="e0a99534-ac2b-41af-aa3e-1cb9cdae66a4"/>
              <p:cNvSpPr txBox="1"/>
              <p:nvPr/>
            </p:nvSpPr>
            <p:spPr>
              <a:xfrm>
                <a:off x="8432471" y="2731569"/>
                <a:ext cx="2653030" cy="545465"/>
              </a:xfrm>
              <a:prstGeom prst="rect">
                <a:avLst/>
              </a:prstGeom>
              <a:noFill/>
            </p:spPr>
            <p:txBody>
              <a:bodyPr wrap="square" rtlCol="0" anchor="b" anchorCtr="1"/>
              <a:lstStyle/>
              <a:p>
                <a:pPr algn="ctr"/>
                <a:r>
                  <a:rPr lang="zh-CN" altLang="en-US" sz="2400" b="1" dirty="0">
                    <a:cs typeface="+mn-ea"/>
                    <a:sym typeface="+mn-lt"/>
                  </a:rPr>
                  <a:t>提升材料</a:t>
                </a:r>
                <a:br>
                  <a:rPr lang="zh-CN" altLang="en-US" sz="2400" b="1" dirty="0">
                    <a:cs typeface="+mn-ea"/>
                    <a:sym typeface="+mn-lt"/>
                  </a:rPr>
                </a:br>
                <a:r>
                  <a:rPr lang="zh-CN" altLang="en-US" sz="2400" b="1" dirty="0">
                    <a:cs typeface="+mn-ea"/>
                    <a:sym typeface="+mn-lt"/>
                  </a:rPr>
                  <a:t>识别准确率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  <p:sp>
            <p:nvSpPr>
              <p:cNvPr id="27" name="Number3" descr="dd4b5b18-cac5-45fe-8f85-ef0ecd117cc9"/>
              <p:cNvSpPr txBox="1"/>
              <p:nvPr/>
            </p:nvSpPr>
            <p:spPr>
              <a:xfrm>
                <a:off x="8400316" y="1938421"/>
                <a:ext cx="2652792" cy="688835"/>
              </a:xfrm>
              <a:prstGeom prst="rect">
                <a:avLst/>
              </a:prstGeom>
              <a:noFill/>
            </p:spPr>
            <p:txBody>
              <a:bodyPr wrap="none" rtlCol="0">
                <a:normAutofit/>
              </a:bodyPr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03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0" name="Text3" descr="5548da73-a7d9-4f42-a5aa-b9446e9c52ae"/>
              <p:cNvSpPr txBox="1"/>
              <p:nvPr/>
            </p:nvSpPr>
            <p:spPr>
              <a:xfrm>
                <a:off x="8416826" y="3277389"/>
                <a:ext cx="2652792" cy="1393035"/>
              </a:xfrm>
              <a:prstGeom prst="rect">
                <a:avLst/>
              </a:prstGeom>
              <a:noFill/>
            </p:spPr>
            <p:txBody>
              <a:bodyPr wrap="square" anchor="t" anchorCtr="1">
                <a:noAutofit/>
              </a:bodyPr>
              <a:lstStyle/>
              <a:p>
                <a:pPr indent="0" algn="l" defTabSz="913765">
                  <a:lnSpc>
                    <a:spcPct val="120000"/>
                  </a:lnSpc>
                  <a:buSzPct val="25000"/>
                  <a:buFont typeface="Wingdings" panose="05000000000000000000" charset="0"/>
                  <a:buNone/>
                  <a:defRPr/>
                </a:pP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1. 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利用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dify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的知识库或者本地构建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RAG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，提高短信签名的提取准确率达到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90%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。</a:t>
                </a:r>
                <a:b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</a:b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2.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基于开源的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VLM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，利用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 github 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开源框架</a:t>
                </a:r>
                <a:r>
                  <a:rPr kumimoji="0" lang="en-US" altLang="zh-CN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——LLaMa-Factory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，</a:t>
                </a:r>
                <a:r>
                  <a:rPr kumimoji="0" lang="zh-CN" altLang="en-US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微调训练本地视觉模型。</a:t>
                </a:r>
                <a:endParaRPr kumimoji="0" lang="zh-CN" altLang="en-US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4479925"/>
            <a:ext cx="852170" cy="14808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4708525"/>
            <a:ext cx="197739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/>
          <p:cNvSpPr/>
          <p:nvPr>
            <p:custDataLst>
              <p:tags r:id="rId1"/>
            </p:custDataLst>
          </p:nvPr>
        </p:nvSpPr>
        <p:spPr>
          <a:xfrm>
            <a:off x="2094865" y="874395"/>
            <a:ext cx="10097770" cy="2096770"/>
          </a:xfrm>
          <a:custGeom>
            <a:avLst/>
            <a:gdLst>
              <a:gd name="adj" fmla="val 15604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715" h="2436">
                <a:moveTo>
                  <a:pt x="1199" y="0"/>
                </a:moveTo>
                <a:lnTo>
                  <a:pt x="12516" y="0"/>
                </a:lnTo>
                <a:cubicBezTo>
                  <a:pt x="13178" y="0"/>
                  <a:pt x="13715" y="537"/>
                  <a:pt x="13715" y="1199"/>
                </a:cubicBezTo>
                <a:lnTo>
                  <a:pt x="13715" y="2436"/>
                </a:lnTo>
                <a:lnTo>
                  <a:pt x="1586" y="2436"/>
                </a:lnTo>
                <a:lnTo>
                  <a:pt x="1568" y="2406"/>
                </a:lnTo>
                <a:cubicBezTo>
                  <a:pt x="1220" y="1839"/>
                  <a:pt x="670" y="1409"/>
                  <a:pt x="17" y="1216"/>
                </a:cubicBezTo>
                <a:lnTo>
                  <a:pt x="0" y="1211"/>
                </a:lnTo>
                <a:lnTo>
                  <a:pt x="0" y="1199"/>
                </a:lnTo>
                <a:cubicBezTo>
                  <a:pt x="0" y="537"/>
                  <a:pt x="537" y="0"/>
                  <a:pt x="1199" y="0"/>
                </a:cubicBez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rIns="91440" numCol="1" spcCol="0" rtlCol="0" fromWordArt="0" anchor="ctr" anchorCtr="1" forceAA="0" compatLnSpc="1">
            <a:noAutofit/>
          </a:bodyPr>
          <a:lstStyle/>
          <a:p>
            <a:pPr marL="0"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4874CB"/>
                </a:solidFill>
                <a:latin typeface="+mn-ea"/>
                <a:cs typeface="+mn-ea"/>
                <a:sym typeface="+mn-ea"/>
              </a:rPr>
              <a:t>成为懂业务、懂技术、懂产品的</a:t>
            </a:r>
            <a:r>
              <a:rPr lang="en-US" altLang="zh-CN" sz="2000" b="1" dirty="0">
                <a:solidFill>
                  <a:srgbClr val="4874CB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rgbClr val="4874CB"/>
                </a:solidFill>
                <a:latin typeface="+mn-ea"/>
                <a:cs typeface="+mn-ea"/>
                <a:sym typeface="+mn-ea"/>
              </a:rPr>
              <a:t>应用工程师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0" lvl="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考取专业职称：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计划考取“系统集成与项目管理工程师”等专业职称，提升项目管理能力。-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提升综合能力与架构思维：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阅读产品开发管理等书籍，着力培养产品思维和代码架构设计能力，能设计出更健壮、可扩展的系统。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2"/>
            </p:custDataLst>
          </p:nvPr>
        </p:nvSpPr>
        <p:spPr>
          <a:xfrm>
            <a:off x="2095500" y="4755515"/>
            <a:ext cx="10139045" cy="1546225"/>
          </a:xfrm>
          <a:custGeom>
            <a:avLst/>
            <a:gdLst>
              <a:gd name="adj" fmla="val 15604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715" h="2435">
                <a:moveTo>
                  <a:pt x="1569" y="0"/>
                </a:moveTo>
                <a:lnTo>
                  <a:pt x="13715" y="0"/>
                </a:lnTo>
                <a:lnTo>
                  <a:pt x="13715" y="1236"/>
                </a:lnTo>
                <a:cubicBezTo>
                  <a:pt x="13715" y="1898"/>
                  <a:pt x="13178" y="2435"/>
                  <a:pt x="12516" y="2435"/>
                </a:cubicBezTo>
                <a:lnTo>
                  <a:pt x="1199" y="2435"/>
                </a:lnTo>
                <a:cubicBezTo>
                  <a:pt x="537" y="2435"/>
                  <a:pt x="0" y="1898"/>
                  <a:pt x="0" y="1236"/>
                </a:cubicBezTo>
                <a:lnTo>
                  <a:pt x="0" y="1196"/>
                </a:lnTo>
                <a:lnTo>
                  <a:pt x="17" y="1191"/>
                </a:lnTo>
                <a:cubicBezTo>
                  <a:pt x="670" y="998"/>
                  <a:pt x="1220" y="568"/>
                  <a:pt x="1568" y="1"/>
                </a:cubicBezTo>
                <a:lnTo>
                  <a:pt x="1569" y="0"/>
                </a:ln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3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rIns="91440" numCol="1" spcCol="0" rtlCol="0" fromWordArt="0" anchor="ctr" anchorCtr="1" forceAA="0" compatLnSpc="1">
            <a:noAutofit/>
          </a:bodyPr>
          <a:lstStyle/>
          <a:p>
            <a:pPr marL="0"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2BA02"/>
                </a:solidFill>
                <a:latin typeface="+mn-ea"/>
                <a:cs typeface="+mn-ea"/>
                <a:sym typeface="+mn-ea"/>
              </a:rPr>
              <a:t>拓展技术深度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提升技术涵养：持续学习系统架构设计、模型微调及开源项目的二次开发能力。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深入模型原理：深入理解大模型底层原理，提升模型调优和定制化开发的核心能力。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任意多边形 36"/>
          <p:cNvSpPr/>
          <p:nvPr>
            <p:custDataLst>
              <p:tags r:id="rId3"/>
            </p:custDataLst>
          </p:nvPr>
        </p:nvSpPr>
        <p:spPr>
          <a:xfrm>
            <a:off x="3307080" y="3089910"/>
            <a:ext cx="7646035" cy="15468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41" h="2436">
                <a:moveTo>
                  <a:pt x="14" y="0"/>
                </a:moveTo>
                <a:lnTo>
                  <a:pt x="12041" y="0"/>
                </a:lnTo>
                <a:lnTo>
                  <a:pt x="12041" y="2436"/>
                </a:lnTo>
                <a:lnTo>
                  <a:pt x="0" y="2436"/>
                </a:lnTo>
                <a:cubicBezTo>
                  <a:pt x="189" y="2066"/>
                  <a:pt x="295" y="1647"/>
                  <a:pt x="295" y="1204"/>
                </a:cubicBezTo>
                <a:cubicBezTo>
                  <a:pt x="295" y="780"/>
                  <a:pt x="198" y="378"/>
                  <a:pt x="24" y="20"/>
                </a:cubicBez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2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151890" rIns="91440" numCol="1" spcCol="0" rtlCol="0" fromWordArt="0" anchor="ctr" anchorCtr="1" forceAA="0" compatLnSpc="1">
            <a:noAutofit/>
          </a:bodyPr>
          <a:lstStyle/>
          <a:p>
            <a:pPr marL="0"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EE822F"/>
                </a:solidFill>
                <a:latin typeface="+mn-ea"/>
                <a:cs typeface="+mn-ea"/>
                <a:sym typeface="+mn-ea"/>
              </a:rPr>
              <a:t>深入短信业务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</a:b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积极参与实际的短信报备流程，从业务深处寻找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优化的机会点。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marL="0" lvl="0" algn="l">
              <a:lnSpc>
                <a:spcPct val="150000"/>
              </a:lnSpc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4"/>
            </p:custDataLst>
          </p:nvPr>
        </p:nvSpPr>
        <p:spPr>
          <a:xfrm>
            <a:off x="2888082" y="1841170"/>
            <a:ext cx="511200" cy="5112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3690087" y="3580181"/>
            <a:ext cx="511200" cy="5112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6"/>
            </p:custDataLst>
          </p:nvPr>
        </p:nvSpPr>
        <p:spPr>
          <a:xfrm>
            <a:off x="2806167" y="5306048"/>
            <a:ext cx="511200" cy="511200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3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对象7"/>
          <p:cNvSpPr/>
          <p:nvPr>
            <p:custDataLst>
              <p:tags r:id="rId7"/>
            </p:custDataLst>
          </p:nvPr>
        </p:nvSpPr>
        <p:spPr>
          <a:xfrm>
            <a:off x="774573" y="2829052"/>
            <a:ext cx="1929384" cy="1929384"/>
          </a:xfrm>
          <a:custGeom>
            <a:avLst/>
            <a:gdLst/>
            <a:ahLst/>
            <a:cxnLst/>
            <a:rect l="l" t="t" r="r" b="b"/>
            <a:pathLst>
              <a:path w="1929384" h="1929384">
                <a:moveTo>
                  <a:pt x="923544" y="0"/>
                </a:moveTo>
                <a:cubicBezTo>
                  <a:pt x="941832" y="0"/>
                  <a:pt x="950976" y="0"/>
                  <a:pt x="969264" y="0"/>
                </a:cubicBezTo>
                <a:cubicBezTo>
                  <a:pt x="978408" y="0"/>
                  <a:pt x="987552" y="0"/>
                  <a:pt x="1005840" y="0"/>
                </a:cubicBezTo>
                <a:lnTo>
                  <a:pt x="1005840" y="9144"/>
                </a:lnTo>
                <a:cubicBezTo>
                  <a:pt x="987552" y="9144"/>
                  <a:pt x="978408" y="9144"/>
                  <a:pt x="969264" y="9144"/>
                </a:cubicBezTo>
                <a:cubicBezTo>
                  <a:pt x="950976" y="9144"/>
                  <a:pt x="941832" y="9144"/>
                  <a:pt x="923544" y="9144"/>
                </a:cubicBezTo>
                <a:lnTo>
                  <a:pt x="923544" y="0"/>
                </a:lnTo>
                <a:moveTo>
                  <a:pt x="777240" y="18288"/>
                </a:moveTo>
                <a:cubicBezTo>
                  <a:pt x="804672" y="9144"/>
                  <a:pt x="822960" y="9144"/>
                  <a:pt x="850392" y="9144"/>
                </a:cubicBezTo>
                <a:lnTo>
                  <a:pt x="850392" y="18288"/>
                </a:lnTo>
                <a:cubicBezTo>
                  <a:pt x="832104" y="18288"/>
                  <a:pt x="804672" y="27432"/>
                  <a:pt x="777240" y="27432"/>
                </a:cubicBezTo>
                <a:lnTo>
                  <a:pt x="777240" y="18288"/>
                </a:lnTo>
                <a:moveTo>
                  <a:pt x="1078992" y="9144"/>
                </a:moveTo>
                <a:cubicBezTo>
                  <a:pt x="1106424" y="9144"/>
                  <a:pt x="1124712" y="9144"/>
                  <a:pt x="1152144" y="18288"/>
                </a:cubicBezTo>
                <a:lnTo>
                  <a:pt x="1152144" y="27432"/>
                </a:lnTo>
                <a:cubicBezTo>
                  <a:pt x="1124712" y="27432"/>
                  <a:pt x="1106424" y="18288"/>
                  <a:pt x="1078992" y="18288"/>
                </a:cubicBezTo>
                <a:lnTo>
                  <a:pt x="1078992" y="9144"/>
                </a:lnTo>
                <a:moveTo>
                  <a:pt x="630936" y="54864"/>
                </a:moveTo>
                <a:cubicBezTo>
                  <a:pt x="658368" y="54864"/>
                  <a:pt x="676656" y="45720"/>
                  <a:pt x="704088" y="36576"/>
                </a:cubicBezTo>
                <a:lnTo>
                  <a:pt x="704088" y="45720"/>
                </a:lnTo>
                <a:cubicBezTo>
                  <a:pt x="685800" y="54864"/>
                  <a:pt x="658368" y="64008"/>
                  <a:pt x="630936" y="73152"/>
                </a:cubicBezTo>
                <a:lnTo>
                  <a:pt x="630936" y="54864"/>
                </a:lnTo>
                <a:moveTo>
                  <a:pt x="1225296" y="36576"/>
                </a:moveTo>
                <a:cubicBezTo>
                  <a:pt x="1252728" y="45720"/>
                  <a:pt x="1271016" y="54864"/>
                  <a:pt x="1298448" y="54864"/>
                </a:cubicBezTo>
                <a:lnTo>
                  <a:pt x="1298448" y="73152"/>
                </a:lnTo>
                <a:cubicBezTo>
                  <a:pt x="1271016" y="64008"/>
                  <a:pt x="1243584" y="54864"/>
                  <a:pt x="1225296" y="45720"/>
                </a:cubicBezTo>
                <a:lnTo>
                  <a:pt x="1225296" y="36576"/>
                </a:lnTo>
                <a:moveTo>
                  <a:pt x="1371600" y="91440"/>
                </a:moveTo>
                <a:cubicBezTo>
                  <a:pt x="1389888" y="100584"/>
                  <a:pt x="1417320" y="109728"/>
                  <a:pt x="1435608" y="118872"/>
                </a:cubicBezTo>
                <a:lnTo>
                  <a:pt x="1426464" y="137160"/>
                </a:lnTo>
                <a:cubicBezTo>
                  <a:pt x="1408176" y="118872"/>
                  <a:pt x="1389888" y="109728"/>
                  <a:pt x="1362456" y="100584"/>
                </a:cubicBezTo>
                <a:lnTo>
                  <a:pt x="1371600" y="91440"/>
                </a:lnTo>
                <a:moveTo>
                  <a:pt x="493776" y="118872"/>
                </a:moveTo>
                <a:cubicBezTo>
                  <a:pt x="512064" y="109728"/>
                  <a:pt x="539496" y="100584"/>
                  <a:pt x="557784" y="91440"/>
                </a:cubicBezTo>
                <a:lnTo>
                  <a:pt x="566928" y="100584"/>
                </a:lnTo>
                <a:cubicBezTo>
                  <a:pt x="539496" y="109728"/>
                  <a:pt x="521208" y="118872"/>
                  <a:pt x="502920" y="137160"/>
                </a:cubicBezTo>
                <a:lnTo>
                  <a:pt x="493776" y="118872"/>
                </a:lnTo>
                <a:moveTo>
                  <a:pt x="1499616" y="164592"/>
                </a:moveTo>
                <a:cubicBezTo>
                  <a:pt x="1517904" y="173736"/>
                  <a:pt x="1545336" y="192024"/>
                  <a:pt x="1563624" y="210312"/>
                </a:cubicBezTo>
                <a:lnTo>
                  <a:pt x="1554480" y="219456"/>
                </a:lnTo>
                <a:cubicBezTo>
                  <a:pt x="1536192" y="201168"/>
                  <a:pt x="1517904" y="182880"/>
                  <a:pt x="1490472" y="173736"/>
                </a:cubicBezTo>
                <a:lnTo>
                  <a:pt x="1499616" y="164592"/>
                </a:lnTo>
                <a:moveTo>
                  <a:pt x="365760" y="210312"/>
                </a:moveTo>
                <a:cubicBezTo>
                  <a:pt x="384048" y="192024"/>
                  <a:pt x="411480" y="173736"/>
                  <a:pt x="429768" y="164592"/>
                </a:cubicBezTo>
                <a:lnTo>
                  <a:pt x="438912" y="173736"/>
                </a:lnTo>
                <a:cubicBezTo>
                  <a:pt x="411480" y="182880"/>
                  <a:pt x="393192" y="201168"/>
                  <a:pt x="374904" y="219456"/>
                </a:cubicBezTo>
                <a:lnTo>
                  <a:pt x="365760" y="210312"/>
                </a:lnTo>
                <a:moveTo>
                  <a:pt x="1618488" y="256032"/>
                </a:moveTo>
                <a:cubicBezTo>
                  <a:pt x="1636776" y="274320"/>
                  <a:pt x="1655064" y="292608"/>
                  <a:pt x="1673352" y="310896"/>
                </a:cubicBezTo>
                <a:lnTo>
                  <a:pt x="1664208" y="320040"/>
                </a:lnTo>
                <a:cubicBezTo>
                  <a:pt x="1645920" y="301752"/>
                  <a:pt x="1627632" y="283464"/>
                  <a:pt x="1609344" y="265176"/>
                </a:cubicBezTo>
                <a:lnTo>
                  <a:pt x="1618488" y="256032"/>
                </a:lnTo>
                <a:moveTo>
                  <a:pt x="256032" y="310896"/>
                </a:moveTo>
                <a:cubicBezTo>
                  <a:pt x="274320" y="292608"/>
                  <a:pt x="292608" y="274320"/>
                  <a:pt x="310896" y="256032"/>
                </a:cubicBezTo>
                <a:lnTo>
                  <a:pt x="320040" y="265176"/>
                </a:lnTo>
                <a:cubicBezTo>
                  <a:pt x="301752" y="283464"/>
                  <a:pt x="283464" y="301752"/>
                  <a:pt x="265176" y="320040"/>
                </a:cubicBezTo>
                <a:lnTo>
                  <a:pt x="256032" y="310896"/>
                </a:lnTo>
                <a:moveTo>
                  <a:pt x="1719072" y="365760"/>
                </a:moveTo>
                <a:cubicBezTo>
                  <a:pt x="1737360" y="384048"/>
                  <a:pt x="1755648" y="411480"/>
                  <a:pt x="1764792" y="429768"/>
                </a:cubicBezTo>
                <a:lnTo>
                  <a:pt x="1755648" y="438912"/>
                </a:lnTo>
                <a:cubicBezTo>
                  <a:pt x="1746504" y="411480"/>
                  <a:pt x="1728216" y="393192"/>
                  <a:pt x="1709928" y="374904"/>
                </a:cubicBezTo>
                <a:lnTo>
                  <a:pt x="1719072" y="365760"/>
                </a:lnTo>
                <a:moveTo>
                  <a:pt x="164592" y="429768"/>
                </a:moveTo>
                <a:cubicBezTo>
                  <a:pt x="173736" y="411480"/>
                  <a:pt x="192024" y="384048"/>
                  <a:pt x="210312" y="365760"/>
                </a:cubicBezTo>
                <a:lnTo>
                  <a:pt x="219456" y="374904"/>
                </a:lnTo>
                <a:cubicBezTo>
                  <a:pt x="201168" y="393192"/>
                  <a:pt x="182880" y="411480"/>
                  <a:pt x="173736" y="438912"/>
                </a:cubicBezTo>
                <a:lnTo>
                  <a:pt x="164592" y="429768"/>
                </a:lnTo>
                <a:moveTo>
                  <a:pt x="1810512" y="493776"/>
                </a:moveTo>
                <a:cubicBezTo>
                  <a:pt x="1819656" y="512064"/>
                  <a:pt x="1828800" y="539496"/>
                  <a:pt x="1837944" y="557784"/>
                </a:cubicBezTo>
                <a:lnTo>
                  <a:pt x="1828800" y="566928"/>
                </a:lnTo>
                <a:cubicBezTo>
                  <a:pt x="1819656" y="539496"/>
                  <a:pt x="1810512" y="521208"/>
                  <a:pt x="1792224" y="502920"/>
                </a:cubicBezTo>
                <a:lnTo>
                  <a:pt x="1810512" y="493776"/>
                </a:lnTo>
                <a:moveTo>
                  <a:pt x="91440" y="557784"/>
                </a:moveTo>
                <a:cubicBezTo>
                  <a:pt x="100584" y="539496"/>
                  <a:pt x="109728" y="512064"/>
                  <a:pt x="118872" y="493776"/>
                </a:cubicBezTo>
                <a:lnTo>
                  <a:pt x="137160" y="502920"/>
                </a:lnTo>
                <a:cubicBezTo>
                  <a:pt x="118872" y="521208"/>
                  <a:pt x="109728" y="539496"/>
                  <a:pt x="100584" y="566928"/>
                </a:cubicBezTo>
                <a:lnTo>
                  <a:pt x="91440" y="557784"/>
                </a:lnTo>
                <a:moveTo>
                  <a:pt x="1874520" y="630936"/>
                </a:moveTo>
                <a:cubicBezTo>
                  <a:pt x="1883664" y="658368"/>
                  <a:pt x="1883664" y="676656"/>
                  <a:pt x="1892808" y="704088"/>
                </a:cubicBezTo>
                <a:lnTo>
                  <a:pt x="1883664" y="704088"/>
                </a:lnTo>
                <a:cubicBezTo>
                  <a:pt x="1874520" y="685800"/>
                  <a:pt x="1865376" y="658368"/>
                  <a:pt x="1856232" y="630936"/>
                </a:cubicBezTo>
                <a:lnTo>
                  <a:pt x="1874520" y="630936"/>
                </a:lnTo>
                <a:moveTo>
                  <a:pt x="36576" y="704088"/>
                </a:moveTo>
                <a:cubicBezTo>
                  <a:pt x="45720" y="676656"/>
                  <a:pt x="54864" y="658368"/>
                  <a:pt x="64008" y="630936"/>
                </a:cubicBezTo>
                <a:lnTo>
                  <a:pt x="73152" y="630936"/>
                </a:lnTo>
                <a:cubicBezTo>
                  <a:pt x="64008" y="658368"/>
                  <a:pt x="54864" y="685800"/>
                  <a:pt x="45720" y="704088"/>
                </a:cubicBezTo>
                <a:lnTo>
                  <a:pt x="36576" y="704088"/>
                </a:lnTo>
                <a:moveTo>
                  <a:pt x="1911096" y="777240"/>
                </a:moveTo>
                <a:cubicBezTo>
                  <a:pt x="1920240" y="804672"/>
                  <a:pt x="1920240" y="822960"/>
                  <a:pt x="1920240" y="850392"/>
                </a:cubicBezTo>
                <a:lnTo>
                  <a:pt x="1911096" y="850392"/>
                </a:lnTo>
                <a:cubicBezTo>
                  <a:pt x="1911096" y="832104"/>
                  <a:pt x="1901952" y="804672"/>
                  <a:pt x="1901952" y="777240"/>
                </a:cubicBezTo>
                <a:lnTo>
                  <a:pt x="1911096" y="777240"/>
                </a:lnTo>
                <a:moveTo>
                  <a:pt x="9144" y="850392"/>
                </a:moveTo>
                <a:cubicBezTo>
                  <a:pt x="9144" y="822960"/>
                  <a:pt x="9144" y="804672"/>
                  <a:pt x="18288" y="777240"/>
                </a:cubicBezTo>
                <a:lnTo>
                  <a:pt x="27432" y="777240"/>
                </a:lnTo>
                <a:cubicBezTo>
                  <a:pt x="27432" y="804672"/>
                  <a:pt x="18288" y="832104"/>
                  <a:pt x="18288" y="850392"/>
                </a:cubicBezTo>
                <a:lnTo>
                  <a:pt x="9144" y="850392"/>
                </a:lnTo>
                <a:moveTo>
                  <a:pt x="1929384" y="923544"/>
                </a:moveTo>
                <a:cubicBezTo>
                  <a:pt x="1929384" y="941832"/>
                  <a:pt x="1929384" y="950976"/>
                  <a:pt x="1929384" y="960120"/>
                </a:cubicBezTo>
                <a:cubicBezTo>
                  <a:pt x="1929384" y="978408"/>
                  <a:pt x="1929384" y="987552"/>
                  <a:pt x="1929384" y="1005840"/>
                </a:cubicBezTo>
                <a:lnTo>
                  <a:pt x="1920240" y="1005840"/>
                </a:lnTo>
                <a:cubicBezTo>
                  <a:pt x="1920240" y="987552"/>
                  <a:pt x="1920240" y="978408"/>
                  <a:pt x="1920240" y="960120"/>
                </a:cubicBezTo>
                <a:cubicBezTo>
                  <a:pt x="1920240" y="950976"/>
                  <a:pt x="1920240" y="941832"/>
                  <a:pt x="1920240" y="923544"/>
                </a:cubicBezTo>
                <a:lnTo>
                  <a:pt x="1929384" y="923544"/>
                </a:lnTo>
                <a:moveTo>
                  <a:pt x="0" y="960120"/>
                </a:moveTo>
                <a:cubicBezTo>
                  <a:pt x="0" y="950976"/>
                  <a:pt x="0" y="941832"/>
                  <a:pt x="0" y="923544"/>
                </a:cubicBezTo>
                <a:lnTo>
                  <a:pt x="9144" y="923544"/>
                </a:lnTo>
                <a:cubicBezTo>
                  <a:pt x="9144" y="941832"/>
                  <a:pt x="9144" y="950976"/>
                  <a:pt x="9144" y="960120"/>
                </a:cubicBezTo>
                <a:cubicBezTo>
                  <a:pt x="9144" y="978408"/>
                  <a:pt x="9144" y="987552"/>
                  <a:pt x="9144" y="1005840"/>
                </a:cubicBezTo>
                <a:lnTo>
                  <a:pt x="0" y="1005840"/>
                </a:lnTo>
                <a:cubicBezTo>
                  <a:pt x="0" y="987552"/>
                  <a:pt x="0" y="978408"/>
                  <a:pt x="0" y="960120"/>
                </a:cubicBezTo>
                <a:moveTo>
                  <a:pt x="1920240" y="1078992"/>
                </a:moveTo>
                <a:cubicBezTo>
                  <a:pt x="1920240" y="1106424"/>
                  <a:pt x="1920240" y="1124712"/>
                  <a:pt x="1911096" y="1152144"/>
                </a:cubicBezTo>
                <a:lnTo>
                  <a:pt x="1901952" y="1152144"/>
                </a:lnTo>
                <a:cubicBezTo>
                  <a:pt x="1901952" y="1124712"/>
                  <a:pt x="1911096" y="1097280"/>
                  <a:pt x="1911096" y="1078992"/>
                </a:cubicBezTo>
                <a:lnTo>
                  <a:pt x="1920240" y="1078992"/>
                </a:lnTo>
                <a:moveTo>
                  <a:pt x="18288" y="1152144"/>
                </a:moveTo>
                <a:cubicBezTo>
                  <a:pt x="9144" y="1124712"/>
                  <a:pt x="9144" y="1106424"/>
                  <a:pt x="9144" y="1078992"/>
                </a:cubicBezTo>
                <a:lnTo>
                  <a:pt x="18288" y="1078992"/>
                </a:lnTo>
                <a:cubicBezTo>
                  <a:pt x="18288" y="1097280"/>
                  <a:pt x="27432" y="1124712"/>
                  <a:pt x="27432" y="1152144"/>
                </a:cubicBezTo>
                <a:lnTo>
                  <a:pt x="18288" y="1152144"/>
                </a:lnTo>
                <a:moveTo>
                  <a:pt x="1892808" y="1225296"/>
                </a:moveTo>
                <a:cubicBezTo>
                  <a:pt x="1883664" y="1252728"/>
                  <a:pt x="1883664" y="1271016"/>
                  <a:pt x="1874520" y="1298448"/>
                </a:cubicBezTo>
                <a:lnTo>
                  <a:pt x="1856232" y="1298448"/>
                </a:lnTo>
                <a:cubicBezTo>
                  <a:pt x="1865376" y="1271016"/>
                  <a:pt x="1874520" y="1243584"/>
                  <a:pt x="1883664" y="1225296"/>
                </a:cubicBezTo>
                <a:lnTo>
                  <a:pt x="1892808" y="1225296"/>
                </a:lnTo>
                <a:moveTo>
                  <a:pt x="64008" y="1298448"/>
                </a:moveTo>
                <a:cubicBezTo>
                  <a:pt x="54864" y="1271016"/>
                  <a:pt x="45720" y="1252728"/>
                  <a:pt x="36576" y="1225296"/>
                </a:cubicBezTo>
                <a:lnTo>
                  <a:pt x="45720" y="1225296"/>
                </a:lnTo>
                <a:cubicBezTo>
                  <a:pt x="54864" y="1243584"/>
                  <a:pt x="64008" y="1271016"/>
                  <a:pt x="73152" y="1298448"/>
                </a:cubicBezTo>
                <a:lnTo>
                  <a:pt x="64008" y="1298448"/>
                </a:lnTo>
                <a:moveTo>
                  <a:pt x="1837944" y="1371600"/>
                </a:moveTo>
                <a:cubicBezTo>
                  <a:pt x="1828800" y="1389888"/>
                  <a:pt x="1819656" y="1417320"/>
                  <a:pt x="1810512" y="1435608"/>
                </a:cubicBezTo>
                <a:lnTo>
                  <a:pt x="1792224" y="1426464"/>
                </a:lnTo>
                <a:cubicBezTo>
                  <a:pt x="1810512" y="1408176"/>
                  <a:pt x="1819656" y="1389888"/>
                  <a:pt x="1828800" y="1362456"/>
                </a:cubicBezTo>
                <a:lnTo>
                  <a:pt x="1837944" y="1371600"/>
                </a:lnTo>
                <a:moveTo>
                  <a:pt x="118872" y="1435608"/>
                </a:moveTo>
                <a:cubicBezTo>
                  <a:pt x="109728" y="1417320"/>
                  <a:pt x="100584" y="1389888"/>
                  <a:pt x="91440" y="1371600"/>
                </a:cubicBezTo>
                <a:lnTo>
                  <a:pt x="100584" y="1362456"/>
                </a:lnTo>
                <a:cubicBezTo>
                  <a:pt x="109728" y="1389888"/>
                  <a:pt x="118872" y="1408176"/>
                  <a:pt x="137160" y="1426464"/>
                </a:cubicBezTo>
                <a:lnTo>
                  <a:pt x="118872" y="1435608"/>
                </a:lnTo>
                <a:moveTo>
                  <a:pt x="1764792" y="1499616"/>
                </a:moveTo>
                <a:cubicBezTo>
                  <a:pt x="1755648" y="1517904"/>
                  <a:pt x="1737360" y="1545336"/>
                  <a:pt x="1719072" y="1563624"/>
                </a:cubicBezTo>
                <a:lnTo>
                  <a:pt x="1709928" y="1554480"/>
                </a:lnTo>
                <a:cubicBezTo>
                  <a:pt x="1728216" y="1536192"/>
                  <a:pt x="1746504" y="1517904"/>
                  <a:pt x="1755648" y="1490472"/>
                </a:cubicBezTo>
                <a:lnTo>
                  <a:pt x="1764792" y="1499616"/>
                </a:lnTo>
                <a:moveTo>
                  <a:pt x="210312" y="1563624"/>
                </a:moveTo>
                <a:cubicBezTo>
                  <a:pt x="192024" y="1545336"/>
                  <a:pt x="173736" y="1517904"/>
                  <a:pt x="164592" y="1499616"/>
                </a:cubicBezTo>
                <a:lnTo>
                  <a:pt x="173736" y="1490472"/>
                </a:lnTo>
                <a:cubicBezTo>
                  <a:pt x="182880" y="1517904"/>
                  <a:pt x="201168" y="1536192"/>
                  <a:pt x="219456" y="1554480"/>
                </a:cubicBezTo>
                <a:lnTo>
                  <a:pt x="210312" y="1563624"/>
                </a:lnTo>
                <a:moveTo>
                  <a:pt x="1673352" y="1618488"/>
                </a:moveTo>
                <a:cubicBezTo>
                  <a:pt x="1655064" y="1636776"/>
                  <a:pt x="1636776" y="1655064"/>
                  <a:pt x="1618488" y="1673352"/>
                </a:cubicBezTo>
                <a:lnTo>
                  <a:pt x="1609344" y="1664208"/>
                </a:lnTo>
                <a:cubicBezTo>
                  <a:pt x="1627632" y="1645920"/>
                  <a:pt x="1645920" y="1627632"/>
                  <a:pt x="1664208" y="1609344"/>
                </a:cubicBezTo>
                <a:lnTo>
                  <a:pt x="1673352" y="1618488"/>
                </a:lnTo>
                <a:moveTo>
                  <a:pt x="310896" y="1673352"/>
                </a:moveTo>
                <a:cubicBezTo>
                  <a:pt x="292608" y="1655064"/>
                  <a:pt x="274320" y="1636776"/>
                  <a:pt x="256032" y="1618488"/>
                </a:cubicBezTo>
                <a:lnTo>
                  <a:pt x="265176" y="1609344"/>
                </a:lnTo>
                <a:cubicBezTo>
                  <a:pt x="283464" y="1627632"/>
                  <a:pt x="301752" y="1645920"/>
                  <a:pt x="320040" y="1664208"/>
                </a:cubicBezTo>
                <a:lnTo>
                  <a:pt x="310896" y="1673352"/>
                </a:lnTo>
                <a:moveTo>
                  <a:pt x="1563624" y="1719072"/>
                </a:moveTo>
                <a:cubicBezTo>
                  <a:pt x="1545336" y="1737360"/>
                  <a:pt x="1517904" y="1755648"/>
                  <a:pt x="1499616" y="1764792"/>
                </a:cubicBezTo>
                <a:lnTo>
                  <a:pt x="1490472" y="1755648"/>
                </a:lnTo>
                <a:cubicBezTo>
                  <a:pt x="1517904" y="1746504"/>
                  <a:pt x="1536192" y="1728216"/>
                  <a:pt x="1554480" y="1709928"/>
                </a:cubicBezTo>
                <a:lnTo>
                  <a:pt x="1563624" y="1719072"/>
                </a:lnTo>
                <a:moveTo>
                  <a:pt x="429768" y="1764792"/>
                </a:moveTo>
                <a:cubicBezTo>
                  <a:pt x="411480" y="1755648"/>
                  <a:pt x="384048" y="1737360"/>
                  <a:pt x="365760" y="1719072"/>
                </a:cubicBezTo>
                <a:lnTo>
                  <a:pt x="374904" y="1709928"/>
                </a:lnTo>
                <a:cubicBezTo>
                  <a:pt x="393192" y="1728216"/>
                  <a:pt x="411480" y="1746504"/>
                  <a:pt x="438912" y="1755648"/>
                </a:cubicBezTo>
                <a:lnTo>
                  <a:pt x="429768" y="1764792"/>
                </a:lnTo>
                <a:moveTo>
                  <a:pt x="557784" y="1837944"/>
                </a:moveTo>
                <a:cubicBezTo>
                  <a:pt x="539496" y="1828800"/>
                  <a:pt x="512064" y="1819656"/>
                  <a:pt x="493776" y="1810512"/>
                </a:cubicBezTo>
                <a:lnTo>
                  <a:pt x="502920" y="1792224"/>
                </a:lnTo>
                <a:cubicBezTo>
                  <a:pt x="521208" y="1810512"/>
                  <a:pt x="539496" y="1819656"/>
                  <a:pt x="566928" y="1828800"/>
                </a:cubicBezTo>
                <a:lnTo>
                  <a:pt x="557784" y="1837944"/>
                </a:lnTo>
                <a:moveTo>
                  <a:pt x="1435608" y="1810512"/>
                </a:moveTo>
                <a:cubicBezTo>
                  <a:pt x="1417320" y="1819656"/>
                  <a:pt x="1389888" y="1828800"/>
                  <a:pt x="1371600" y="1837944"/>
                </a:cubicBezTo>
                <a:lnTo>
                  <a:pt x="1362456" y="1828800"/>
                </a:lnTo>
                <a:cubicBezTo>
                  <a:pt x="1389888" y="1819656"/>
                  <a:pt x="1408176" y="1810512"/>
                  <a:pt x="1426464" y="1792224"/>
                </a:cubicBezTo>
                <a:lnTo>
                  <a:pt x="1435608" y="1810512"/>
                </a:lnTo>
                <a:moveTo>
                  <a:pt x="704088" y="1892808"/>
                </a:moveTo>
                <a:cubicBezTo>
                  <a:pt x="676656" y="1883664"/>
                  <a:pt x="658368" y="1874520"/>
                  <a:pt x="630936" y="1865376"/>
                </a:cubicBezTo>
                <a:lnTo>
                  <a:pt x="630936" y="1856232"/>
                </a:lnTo>
                <a:cubicBezTo>
                  <a:pt x="658368" y="1865376"/>
                  <a:pt x="685800" y="1874520"/>
                  <a:pt x="704088" y="1883664"/>
                </a:cubicBezTo>
                <a:lnTo>
                  <a:pt x="704088" y="1892808"/>
                </a:lnTo>
                <a:moveTo>
                  <a:pt x="1298448" y="1865376"/>
                </a:moveTo>
                <a:cubicBezTo>
                  <a:pt x="1271016" y="1874520"/>
                  <a:pt x="1252728" y="1883664"/>
                  <a:pt x="1225296" y="1892808"/>
                </a:cubicBezTo>
                <a:lnTo>
                  <a:pt x="1225296" y="1883664"/>
                </a:lnTo>
                <a:cubicBezTo>
                  <a:pt x="1243584" y="1874520"/>
                  <a:pt x="1271016" y="1865376"/>
                  <a:pt x="1298448" y="1856232"/>
                </a:cubicBezTo>
                <a:lnTo>
                  <a:pt x="1298448" y="1865376"/>
                </a:lnTo>
                <a:moveTo>
                  <a:pt x="850392" y="1920240"/>
                </a:moveTo>
                <a:cubicBezTo>
                  <a:pt x="822960" y="1920240"/>
                  <a:pt x="804672" y="1911096"/>
                  <a:pt x="777240" y="1911096"/>
                </a:cubicBezTo>
                <a:lnTo>
                  <a:pt x="777240" y="1901952"/>
                </a:lnTo>
                <a:cubicBezTo>
                  <a:pt x="804672" y="1901952"/>
                  <a:pt x="832104" y="1911096"/>
                  <a:pt x="850392" y="1911096"/>
                </a:cubicBezTo>
                <a:lnTo>
                  <a:pt x="850392" y="1920240"/>
                </a:lnTo>
                <a:moveTo>
                  <a:pt x="1152144" y="1911096"/>
                </a:moveTo>
                <a:cubicBezTo>
                  <a:pt x="1124712" y="1911096"/>
                  <a:pt x="1106424" y="1920240"/>
                  <a:pt x="1078992" y="1920240"/>
                </a:cubicBezTo>
                <a:lnTo>
                  <a:pt x="1078992" y="1911096"/>
                </a:lnTo>
                <a:cubicBezTo>
                  <a:pt x="1106424" y="1911096"/>
                  <a:pt x="1124712" y="1901952"/>
                  <a:pt x="1152144" y="1901952"/>
                </a:cubicBezTo>
                <a:lnTo>
                  <a:pt x="1152144" y="1911096"/>
                </a:lnTo>
                <a:moveTo>
                  <a:pt x="969264" y="1929384"/>
                </a:moveTo>
                <a:cubicBezTo>
                  <a:pt x="950976" y="1929384"/>
                  <a:pt x="941832" y="1929384"/>
                  <a:pt x="923544" y="1929384"/>
                </a:cubicBezTo>
                <a:lnTo>
                  <a:pt x="923544" y="1911096"/>
                </a:lnTo>
                <a:cubicBezTo>
                  <a:pt x="941832" y="1920240"/>
                  <a:pt x="950976" y="1920240"/>
                  <a:pt x="969264" y="1920240"/>
                </a:cubicBezTo>
                <a:cubicBezTo>
                  <a:pt x="978408" y="1920240"/>
                  <a:pt x="987552" y="1920240"/>
                  <a:pt x="1005840" y="1911096"/>
                </a:cubicBezTo>
                <a:lnTo>
                  <a:pt x="1005840" y="1929384"/>
                </a:lnTo>
                <a:cubicBezTo>
                  <a:pt x="987552" y="1929384"/>
                  <a:pt x="978408" y="1929384"/>
                  <a:pt x="969264" y="1929384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100000"/>
                  </a:schemeClr>
                </a:solidFill>
                <a:latin typeface="+mn-ea"/>
                <a:cs typeface="+mn-ea"/>
              </a:rPr>
              <a:t>中长期目标</a:t>
            </a:r>
            <a:endParaRPr lang="zh-CN" altLang="en-US" sz="2800" b="1" dirty="0">
              <a:solidFill>
                <a:schemeClr val="tx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2" name="对象4"/>
          <p:cNvSpPr/>
          <p:nvPr>
            <p:custDataLst>
              <p:tags r:id="rId8"/>
            </p:custDataLst>
          </p:nvPr>
        </p:nvSpPr>
        <p:spPr>
          <a:xfrm>
            <a:off x="143637" y="2188972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1600200" y="3200400"/>
                </a:moveTo>
                <a:cubicBezTo>
                  <a:pt x="2487168" y="3200400"/>
                  <a:pt x="3200400" y="2478024"/>
                  <a:pt x="3200400" y="1600200"/>
                </a:cubicBezTo>
                <a:cubicBezTo>
                  <a:pt x="3200400" y="713232"/>
                  <a:pt x="2487168" y="0"/>
                  <a:pt x="1600200" y="0"/>
                </a:cubicBezTo>
                <a:cubicBezTo>
                  <a:pt x="713232" y="0"/>
                  <a:pt x="0" y="713232"/>
                  <a:pt x="0" y="1600200"/>
                </a:cubicBezTo>
                <a:cubicBezTo>
                  <a:pt x="0" y="2478024"/>
                  <a:pt x="713232" y="3200400"/>
                  <a:pt x="1600200" y="3200400"/>
                </a:cubicBezTo>
                <a:moveTo>
                  <a:pt x="1600200" y="2770632"/>
                </a:moveTo>
                <a:cubicBezTo>
                  <a:pt x="2249424" y="2770632"/>
                  <a:pt x="2770632" y="2249424"/>
                  <a:pt x="2770632" y="1600200"/>
                </a:cubicBezTo>
                <a:cubicBezTo>
                  <a:pt x="2770632" y="950976"/>
                  <a:pt x="2249424" y="429768"/>
                  <a:pt x="1600200" y="429768"/>
                </a:cubicBezTo>
                <a:cubicBezTo>
                  <a:pt x="950976" y="429768"/>
                  <a:pt x="429768" y="950976"/>
                  <a:pt x="429768" y="1600200"/>
                </a:cubicBezTo>
                <a:cubicBezTo>
                  <a:pt x="429768" y="2249424"/>
                  <a:pt x="950976" y="2770632"/>
                  <a:pt x="1600200" y="2770632"/>
                </a:cubicBezTo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3" name="对象5"/>
          <p:cNvSpPr/>
          <p:nvPr>
            <p:custDataLst>
              <p:tags r:id="rId9"/>
            </p:custDataLst>
          </p:nvPr>
        </p:nvSpPr>
        <p:spPr>
          <a:xfrm>
            <a:off x="280797" y="2335276"/>
            <a:ext cx="2916936" cy="2916936"/>
          </a:xfrm>
          <a:custGeom>
            <a:avLst/>
            <a:gdLst/>
            <a:ahLst/>
            <a:cxnLst/>
            <a:rect l="l" t="t" r="r" b="b"/>
            <a:pathLst>
              <a:path w="2916936" h="2916936">
                <a:moveTo>
                  <a:pt x="1453896" y="2916936"/>
                </a:moveTo>
                <a:cubicBezTo>
                  <a:pt x="2258568" y="2916936"/>
                  <a:pt x="2916936" y="2258568"/>
                  <a:pt x="2916936" y="1453896"/>
                </a:cubicBezTo>
                <a:cubicBezTo>
                  <a:pt x="2916936" y="649224"/>
                  <a:pt x="2258568" y="0"/>
                  <a:pt x="1453896" y="0"/>
                </a:cubicBezTo>
                <a:cubicBezTo>
                  <a:pt x="649224" y="0"/>
                  <a:pt x="0" y="649224"/>
                  <a:pt x="0" y="1453896"/>
                </a:cubicBezTo>
                <a:cubicBezTo>
                  <a:pt x="0" y="2258568"/>
                  <a:pt x="649224" y="2916936"/>
                  <a:pt x="1453896" y="2916936"/>
                </a:cubicBezTo>
                <a:moveTo>
                  <a:pt x="1453896" y="2523744"/>
                </a:moveTo>
                <a:cubicBezTo>
                  <a:pt x="2048256" y="2523744"/>
                  <a:pt x="2523744" y="2048256"/>
                  <a:pt x="2523744" y="1453896"/>
                </a:cubicBezTo>
                <a:cubicBezTo>
                  <a:pt x="2523744" y="868680"/>
                  <a:pt x="2048256" y="393192"/>
                  <a:pt x="1453896" y="393192"/>
                </a:cubicBezTo>
                <a:cubicBezTo>
                  <a:pt x="868680" y="393192"/>
                  <a:pt x="393192" y="868680"/>
                  <a:pt x="393192" y="1453896"/>
                </a:cubicBezTo>
                <a:cubicBezTo>
                  <a:pt x="393192" y="2048256"/>
                  <a:pt x="868680" y="2523744"/>
                  <a:pt x="1453896" y="2523744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rcRect l="17500" t="5922" r="19792" b="9320"/>
          <a:stretch>
            <a:fillRect/>
          </a:stretch>
        </p:blipFill>
        <p:spPr>
          <a:xfrm>
            <a:off x="8557895" y="2523490"/>
            <a:ext cx="479425" cy="46355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3015"/>
            <a:ext cx="10969200" cy="705600"/>
          </a:xfrm>
        </p:spPr>
        <p:txBody>
          <a:bodyPr/>
          <a:p>
            <a:pPr algn="ctr"/>
            <a:r>
              <a:rPr lang="zh-CN" altLang="en-US" b="1"/>
              <a:t>致谢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745035"/>
            <a:ext cx="10969200" cy="4759200"/>
          </a:xfrm>
        </p:spPr>
        <p:txBody>
          <a:bodyPr/>
          <a:p>
            <a:r>
              <a:rPr lang="zh-CN" altLang="en-US"/>
              <a:t>感谢我的导师林俊才，在我一步步搭建智能体的过程中，给予我技术思路和逻辑框架上的耐心指导；</a:t>
            </a:r>
            <a:endParaRPr lang="zh-CN" altLang="en-US"/>
          </a:p>
          <a:p>
            <a:r>
              <a:rPr lang="zh-CN" altLang="en-US"/>
              <a:t>感谢欧石平，在我入职后的</a:t>
            </a:r>
            <a:r>
              <a:rPr lang="zh-CN" altLang="en-US"/>
              <a:t>多次</a:t>
            </a:r>
            <a:r>
              <a:rPr lang="en-US" altLang="zh-CN"/>
              <a:t>1v1</a:t>
            </a:r>
            <a:r>
              <a:rPr lang="zh-CN" altLang="en-US"/>
              <a:t>交流中，为我的职业方向提供了宝贵的建议与肯定；</a:t>
            </a:r>
            <a:endParaRPr lang="zh-CN" altLang="en-US"/>
          </a:p>
          <a:p>
            <a:r>
              <a:rPr lang="zh-CN" altLang="en-US"/>
              <a:t>感谢秦杨杨、何佳靖、张超杰，在</a:t>
            </a:r>
            <a:r>
              <a:rPr lang="en-US" altLang="zh-CN"/>
              <a:t>“</a:t>
            </a:r>
            <a:r>
              <a:rPr lang="zh-CN" altLang="en-US"/>
              <a:t>智能材料提取</a:t>
            </a:r>
            <a:r>
              <a:rPr lang="en-US" altLang="zh-CN"/>
              <a:t>”</a:t>
            </a:r>
            <a:r>
              <a:rPr lang="zh-CN" altLang="en-US"/>
              <a:t>模块的开发过程中，给予我技术上的支持与协作；</a:t>
            </a:r>
            <a:endParaRPr lang="zh-CN" altLang="en-US"/>
          </a:p>
          <a:p>
            <a:r>
              <a:rPr lang="zh-CN" altLang="en-US"/>
              <a:t>感谢杜雨琦、谢佳欣、李</a:t>
            </a:r>
            <a:r>
              <a:rPr lang="zh-CN" altLang="en-US"/>
              <a:t>梓铭，在转正材料准备和汇报辅导中给予我的帮助与指点。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350080"/>
            <a:ext cx="10969200" cy="705600"/>
          </a:xfrm>
        </p:spPr>
        <p:txBody>
          <a:bodyPr/>
          <a:p>
            <a:pPr algn="ctr"/>
            <a:r>
              <a:rPr lang="zh-CN" altLang="en-US" b="1">
                <a:sym typeface="+mn-ea"/>
              </a:rPr>
              <a:t>敬请批评指正！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636520"/>
            <a:ext cx="10968990" cy="2726690"/>
          </a:xfrm>
        </p:spPr>
        <p:txBody>
          <a:bodyPr/>
          <a:p>
            <a:r>
              <a:rPr lang="zh-CN" altLang="en-US"/>
              <a:t>我在</a:t>
            </a:r>
            <a:r>
              <a:rPr lang="en-US" altLang="zh-CN"/>
              <a:t>“</a:t>
            </a:r>
            <a:r>
              <a:rPr lang="zh-CN" altLang="en-US"/>
              <a:t>短信材料智能提取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定制化</a:t>
            </a:r>
            <a:r>
              <a:rPr lang="en-US" altLang="zh-CN"/>
              <a:t>Excel”</a:t>
            </a:r>
            <a:r>
              <a:rPr lang="zh-CN" altLang="en-US"/>
              <a:t>这两个方向上，已经做了一些尝试。想请教一下诸位前辈：</a:t>
            </a:r>
            <a:r>
              <a:rPr lang="zh-CN" altLang="en-US" b="1"/>
              <a:t>目前公司在短信报备或运营流程中，最希望用</a:t>
            </a:r>
            <a:r>
              <a:rPr lang="en-US" altLang="zh-CN" b="1"/>
              <a:t>AI</a:t>
            </a:r>
            <a:r>
              <a:rPr lang="zh-CN" altLang="en-US" b="1"/>
              <a:t>解决的痛点是什么？</a:t>
            </a:r>
            <a:r>
              <a:rPr lang="en-US" altLang="zh-CN" b="1"/>
              <a:t> </a:t>
            </a:r>
            <a:r>
              <a:rPr lang="zh-CN" altLang="en-US" b="1"/>
              <a:t>我想更精准地对齐业务目标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我的中长期目标是成为</a:t>
            </a:r>
            <a:r>
              <a:rPr lang="en-US" altLang="zh-CN"/>
              <a:t>“</a:t>
            </a:r>
            <a:r>
              <a:rPr lang="zh-CN" altLang="en-US"/>
              <a:t>懂业务</a:t>
            </a:r>
            <a:r>
              <a:rPr lang="en-US" altLang="zh-CN"/>
              <a:t> + </a:t>
            </a:r>
            <a:r>
              <a:rPr lang="zh-CN" altLang="en-US"/>
              <a:t>懂技术</a:t>
            </a:r>
            <a:r>
              <a:rPr lang="en-US" altLang="zh-CN"/>
              <a:t> + </a:t>
            </a:r>
            <a:r>
              <a:rPr lang="zh-CN" altLang="en-US"/>
              <a:t>懂产品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en-US" altLang="zh-CN"/>
              <a:t>AI</a:t>
            </a:r>
            <a:r>
              <a:rPr lang="zh-CN" altLang="en-US"/>
              <a:t>应用工程师。想请教：在各位前辈看来，</a:t>
            </a:r>
            <a:r>
              <a:rPr lang="zh-CN" altLang="en-US" b="1"/>
              <a:t>公司最希望我这类岗位的人，未来能在哪些方面承担更多责任？</a:t>
            </a:r>
            <a:r>
              <a:rPr lang="en-US" altLang="zh-CN" b="1"/>
              <a:t> </a:t>
            </a:r>
            <a:r>
              <a:rPr lang="zh-CN" altLang="en-US" b="1"/>
              <a:t>是更深入业务一线，还是更偏向平台能力建设</a:t>
            </a:r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1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3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4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5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6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7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8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69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0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1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2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3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4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5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6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7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8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79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0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1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2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3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4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5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6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7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8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89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0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1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2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3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4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5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6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7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8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99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100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101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102.xml><?xml version="1.0" encoding="utf-8"?>
<p:tagLst xmlns:p="http://schemas.openxmlformats.org/presentationml/2006/main">
  <p:tag name="KSO_WM_DIAGRAM_VIRTUALLY_FRAME" val="{&quot;height&quot;:452.96204724409455,&quot;left&quot;:52,&quot;top&quot;:89,&quot;width&quot;:855}"/>
</p:tagLst>
</file>

<file path=ppt/tags/tag10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0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1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2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3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4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1.xml><?xml version="1.0" encoding="utf-8"?>
<p:tagLst xmlns:p="http://schemas.openxmlformats.org/presentationml/2006/main">
  <p:tag name="KSO_WM_DIAGRAM_VIRTUALLY_FRAME" val="{&quot;height&quot;:425.45,&quot;left&quot;:68.55,&quot;top&quot;:57.15,&quot;width&quot;:763.65}"/>
</p:tagLst>
</file>

<file path=ppt/tags/tag152.xml><?xml version="1.0" encoding="utf-8"?>
<p:tagLst xmlns:p="http://schemas.openxmlformats.org/presentationml/2006/main">
  <p:tag name="KSO_WM_DIAGRAM_VIRTUALLY_FRAME" val="{&quot;height&quot;:425.45,&quot;left&quot;:68.55,&quot;top&quot;:57.15,&quot;width&quot;:763.65}"/>
</p:tagLst>
</file>

<file path=ppt/tags/tag15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5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6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7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8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1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2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3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4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5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6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7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8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199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200.xml><?xml version="1.0" encoding="utf-8"?>
<p:tagLst xmlns:p="http://schemas.openxmlformats.org/presentationml/2006/main">
  <p:tag name="KSO_WM_DIAGRAM_VIRTUALLY_FRAME" val="{&quot;height&quot;:427.9762992125984,&quot;left&quot;:52,&quot;top&quot;:71.15,&quot;width&quot;:855}"/>
</p:tagLst>
</file>

<file path=ppt/tags/tag201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2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3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4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5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6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7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8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09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0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1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2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3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4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5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6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7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8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19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0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1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2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3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4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5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6.xml><?xml version="1.0" encoding="utf-8"?>
<p:tagLst xmlns:p="http://schemas.openxmlformats.org/presentationml/2006/main">
  <p:tag name="KSO_WM_DIAGRAM_VIRTUALLY_FRAME" val="{&quot;height&quot;:371.57141732283463,&quot;left&quot;:52,&quot;top&quot;:89,&quot;width&quot;:855}"/>
</p:tagLst>
</file>

<file path=ppt/tags/tag22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2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2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3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1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93"/>
  <p:tag name="KSO_WM_UNIT_TYPE" val="n_h_h_f"/>
  <p:tag name="KSO_WM_UNIT_INDEX" val="1_2_1_1"/>
  <p:tag name="KSO_WM_UNIT_PRESET_TEXT" val="单击此处输入你的正文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3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93"/>
  <p:tag name="KSO_WM_UNIT_TYPE" val="n_h_h_f"/>
  <p:tag name="KSO_WM_UNIT_INDEX" val="1_2_3_1"/>
  <p:tag name="KSO_WM_UNIT_PRESET_TEXT" val="单击此处输入你的正文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USESOURCEFORMAT_APPLY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2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84"/>
  <p:tag name="KSO_WM_UNIT_TYPE" val="n_h_h_f"/>
  <p:tag name="KSO_WM_UNIT_INDEX" val="1_2_2_1"/>
  <p:tag name="KSO_WM_UNIT_PRESET_TEXT" val="单击此处输入你的正文具体内容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USESOURCEFORMAT_APPLY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42_2*n_h_h_i*1_2_1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5"/>
  <p:tag name="KSO_WM_UNIT_USESOURCEFORMAT_APPLY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42_2*n_h_h_i*1_2_2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6"/>
  <p:tag name="KSO_WM_UNIT_USESOURCEFORMAT_APPLY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42_2*n_h_h_i*1_2_3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7"/>
  <p:tag name="KSO_WM_UNIT_USESOURCEFORMAT_APPLY" val="1"/>
</p:tagLst>
</file>

<file path=ppt/tags/tag24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DIAGRAM_VERSION" val="3"/>
  <p:tag name="KSO_WM_DIAGRAM_COLOR_TEXT_CAN_REMOVE" val="n"/>
  <p:tag name="KSO_WM_DIAGRAM_MAX_ITEMCNT" val="6"/>
  <p:tag name="KSO_WM_DIAGRAM_VIRTUALLY_FRAME" val="{&quot;height&quot;:427.35,&quot;left&quot;:11.309999999999992,&quot;top&quot;:68.85,&quot;width&quot;:1000.14}"/>
  <p:tag name="KSO_WM_UNIT_HIGHLIGHT" val="0"/>
  <p:tag name="KSO_WM_UNIT_DIAGRAM_ISNUMVISUAL" val="0"/>
  <p:tag name="KSO_WM_UNIT_ID" val="diagram20231642_2*n_h_a*1_1_1"/>
  <p:tag name="KSO_WM_TEMPLATE_INDEX" val="20231642"/>
  <p:tag name="KSO_WM_TAG_VERSION" val="3.0"/>
  <p:tag name="KSO_WM_UNIT_ISCONTENTSTITLE" val="0"/>
  <p:tag name="KSO_WM_UNIT_ISNUMDGMTITLE" val="0"/>
  <p:tag name="KSO_WM_UNIT_NOCLEAR" val="0"/>
  <p:tag name="KSO_WM_UNIT_VALUE" val="42"/>
  <p:tag name="KSO_WM_DIAGRAM_GROUP_CODE" val="n1-1"/>
  <p:tag name="KSO_WM_UNIT_TYPE" val="n_h_a"/>
  <p:tag name="KSO_WM_UNIT_INDEX" val="1_1_1"/>
  <p:tag name="KSO_WM_DIAGRAM_COLOR_TRICK" val="1"/>
  <p:tag name="KSO_WM_DIAGRAM_MIN_ITEMCNT" val="2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BEAUTIFY_FLAG" val="#wm#"/>
  <p:tag name="KSO_WM_UNIT_PRESET_TEXT" val="添加标题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42_2*n_h_i*1_1_2"/>
  <p:tag name="KSO_WM_TEMPLATE_CATEGORY" val="diagram"/>
  <p:tag name="KSO_WM_TEMPLATE_INDEX" val="20231642"/>
  <p:tag name="KSO_WM_UNIT_LAYERLEVEL" val="1_1_1"/>
  <p:tag name="KSO_WM_TAG_VERSION" val="3.0"/>
  <p:tag name="KSO_WM_DIAGRAM_GROUP_CODE" val="n1-1"/>
  <p:tag name="KSO_WM_UNIT_TYPE" val="n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6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42_2*n_h_i*1_1_1"/>
  <p:tag name="KSO_WM_TEMPLATE_CATEGORY" val="diagram"/>
  <p:tag name="KSO_WM_TEMPLATE_INDEX" val="20231642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27.35,&quot;left&quot;:11.309999999999992,&quot;top&quot;:68.85,&quot;width&quot;:1000.1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SLIDE_ID" val="diagram2023164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642"/>
  <p:tag name="KSO_WM_SLIDE_TYPE" val="text"/>
  <p:tag name="KSO_WM_SLIDE_SUBTYPE" val="diag"/>
  <p:tag name="KSO_WM_SLIDE_SIZE" val="849.89*384.05"/>
  <p:tag name="KSO_WM_SLIDE_POSITION" val="48.96*112.15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2294</Words>
  <Application>WPS 演示</Application>
  <PresentationFormat>宽屏</PresentationFormat>
  <Paragraphs>233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致谢</vt:lpstr>
      <vt:lpstr>敬请批评指正！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刘毅</cp:lastModifiedBy>
  <cp:revision>267</cp:revision>
  <dcterms:created xsi:type="dcterms:W3CDTF">2026-03-15T06:50:00Z</dcterms:created>
  <dcterms:modified xsi:type="dcterms:W3CDTF">2026-03-19T05:32:38Z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70C3ACFEA5834D33A5E7069D7EFE9AEF_13</vt:lpwstr>
  </property>
</Properties>
</file>